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1" r:id="rId27"/>
    <p:sldId id="279" r:id="rId28"/>
    <p:sldId id="280" r:id="rId29"/>
    <p:sldId id="28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13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56" y="1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275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en dos partes: la primera explica el modelo (diapositivas 2-22) y la segunda es la plantilla que cada equipo llena y entrega (diapositivas 23-25). Duración estimada de la exposición: 90-110 minutos con ejercicio en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desde el inicio que el entregable son dos archivos: el Excel con el cuestionario contestado y la plantilla del PowerPoint llena.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el Canvas no sustituye la ingeniería de requisitos, la alimenta. Cada bloque del lienzo aterriza en una decisión técnica concreta.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la idea de hipótesis: el Canvas no es un documento de verdades, es un tablero de apuestas que deben validarse.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posición no es decorativa: la mitad izquierda responde a la eficiencia interna y la derecha al valor percibido por el cliente. La propuesta de valor es la bisagra entre ambas.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llenen en ese orden en el Excel: la hoja Cuestionario ya está ordenada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1 — Segmentos de clientes. Las preguntas guía de esta diapositiva corresponden a la sección 1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2 — Propuesta de valor. Las preguntas guía de esta diapositiva corresponden a la sección 2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3 — Canales. Las preguntas guía de esta diapositiva corresponden a la sección 3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4 — Relación con clientes. Las preguntas guía de esta diapositiva corresponden a la sección 4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5 — Fuentes de ingresos. Las preguntas guía de esta diapositiva corresponden a la sección 5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6 — Recursos clave. Las preguntas guía de esta diapositiva corresponden a la sección 6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7 — Actividades clave. Las preguntas guía de esta diapositiva corresponden a la sección 7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8 — Socios clave. Las preguntas guía de esta diapositiva corresponden a la sección 8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9 — Estructura de costos. Las preguntas guía de esta diapositiva corresponden a la sección 9 de la hoja «Cuestionario» del archivo de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cada equipo que elija uno principal y a lo sumo uno secundario, y que lo capture en la hoja «Monetización» del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son ilustrativas. Lo importante es que el equipo entienda que todo número declarado debe poder explicarse.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en clase: pedir a los equipos que señalen una incoherencia o un supuesto no validado en este lienzo. Siempre hay varios.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uno de estos errores corresponde a un criterio de evaluación de la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lista está replicada en la hoja «Checklist» del Excel, con semáforo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PLANTILLA: sustituye todos los textos en gris por el contenido de tu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53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PLANTILLA: cada ficha se responde en tres o cuatro líneas. Si no cabe, el equipo todavía no tiene clara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PLANTILLA: cada ficha se responde en tres o cuatro líneas. Si no cabe, el equipo todavía no tiene clara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83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B2657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2B265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2514600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convertir una propuesta de proyecto de software en un modelo de negocio explicable, coherente y defendible.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617720"/>
            <a:ext cx="822960" cy="32004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8920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clase + plantilla de entrega para equipos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C9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Claudio Ernesto Florián Arenas  ·  Instituto Tecnológico de Morelia  ·  TecNM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 este material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presentación sirve para la clase y para la entrega del equipo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874520"/>
            <a:ext cx="658368" cy="65836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 el modelo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3 a 6: qué es el Canvas, para qué sirve y en qué orden se llena.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4136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874520"/>
            <a:ext cx="658368" cy="65836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0168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Estudia los 9 bloques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7 a 16: cada bloque con definición, enfoque de software, preguntas guía y error común.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45352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1874520"/>
            <a:ext cx="658368" cy="658368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el caso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17 a 22: un modelo resuelto, errores frecuentes, validación y guion de exposición.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16568" y="160020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F2F4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874520"/>
            <a:ext cx="658368" cy="658368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874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Llena tu plantilla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2461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Diapositivas 23 a 25: el equipo escribe aquí su propuesta y entrega este mismo archivo.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138928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FDF1D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obligatorio:  </a:t>
            </a: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de Excel «Cuestionario Business Model Canvas» contiene las 45 preguntas guía con celdas de captura, un lienzo que se arma solo con tus respuestas, una calculadora de monetización y un semáforo de avance. Llénalo antes de vaciar el contenido en la plantilla de estas diapositivas.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buen software que nadie necesita sigue siendo un fracaso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un ingeniero de software debe saber modelar un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F1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número uno de fracaso en startups tecnológicas no es técnica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construir algo para lo que no existe una necesidad real de mercado. El código funcionaba; el modelo de negocio nunca existió.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CB Insights, «The Top Reasons Startups Fail».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886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Canvas te obliga a decidir antes de escribir la primera línea de código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4348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paga, quién usa y quién decide (casi nunca son la misma persona).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medible resuelve el sistema y contra qué alternativa compite.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dinero y cuánto cuesta realmente operar y sostener el software.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requisitos son negociables y cuáles sostienen el modelo completo.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1584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Canvas conecta decisiones técnicas con decisiones de negocio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65392" y="2587752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39712" y="246888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y perfiles de acceso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65392" y="3191256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39712" y="30723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prioritarios y MVP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65392" y="3794760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39712" y="367588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y relación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soporte, actualizaciones, telemetría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65392" y="4398264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9712" y="427939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cobro, planes, límites de uso, facturación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65392" y="5001768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39712" y="488289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actividades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stack, equipo, proceso de desarrollo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65392" y="5605272"/>
            <a:ext cx="155448" cy="155448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39712" y="548640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  →  </a:t>
            </a: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infraestructura, escalabilidad y deuda técnica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Business Model Canvas?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Osterwalder &amp; Pigneur (2010), «Business Model Generation»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623560" cy="1417320"/>
          </a:xfrm>
          <a:prstGeom prst="roundRect">
            <a:avLst>
              <a:gd name="adj" fmla="val 5161"/>
            </a:avLst>
          </a:prstGeom>
          <a:solidFill>
            <a:srgbClr val="FDF1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lienzo de una sola página que describe cómo una organización crea, entrega y captura valor.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1546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preguntas, nueve bloques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00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6118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QUIÉN?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611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 · Canales · Relación con clientes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27024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F4A3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2702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¿QUÉ?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270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92861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4A47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92861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49286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 · Actividades clave · Socios clave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58698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E8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55869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¿CUÁNTO?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558698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 · Estructura de costos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193792" cy="4663440"/>
          </a:xfrm>
          <a:prstGeom prst="roundRect">
            <a:avLst>
              <a:gd name="adj" fmla="val 1569"/>
            </a:avLst>
          </a:prstGeom>
          <a:solidFill>
            <a:srgbClr val="F2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6656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qué sirve en tu proyecto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24028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 explicar el proyecto completo en una sola página, sin refugiarse en tecnicismos.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visibles los supuestos: lo que escribes en una nota adhesiva es una hipótesis, no un hecho.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incoherencias: una propuesta de valor sin canal, o costos que no corresponden a los recursos declarados.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comparar alternativas: dos modelos distintos para el mismo software se ven lado a lado.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lenguaje común con inversionistas, jurados de concurso, directivos y clientes.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lienzo: los nueve bloques y su posición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nos ayuda: proveedores, APIs de terceros, distribuidores, aliados que reducen riesgo o costo.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70048" y="1188720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1645920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hacemos: desarrollo, operación, seguridad, venta, soporte, implementación.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70048" y="2976372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306781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61488" y="3067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30586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79776" y="3433572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necesitamos: personas, infraestructura, datos, propiedad intelectual, capital.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56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FDF1DC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28016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47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ofrecemos y por qué el cliente lo prefiere sobre su alternativa actual.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corazón del lienzo: todo lo demás existe para sostenerlo.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42048" y="1188720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1645920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interactuamos: autoservicio, acompañamiento, comunidad, éxito del cliente.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42048" y="2976372"/>
            <a:ext cx="2231136" cy="1732788"/>
          </a:xfrm>
          <a:prstGeom prst="roundRect">
            <a:avLst>
              <a:gd name="adj" fmla="val 263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306781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33488" y="30678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30586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51776" y="3433572"/>
            <a:ext cx="20116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llegamos: descubrimiento, prueba, venta, entrega, soporte.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28048" y="1188720"/>
            <a:ext cx="2231136" cy="3520440"/>
          </a:xfrm>
          <a:prstGeom prst="roundRect">
            <a:avLst>
              <a:gd name="adj" fmla="val 204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9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19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48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37776" y="1645920"/>
            <a:ext cx="20116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 creamos valor: usuario, cliente que paga y quien decide la compra.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segmento es «todos», el modelo no está definido.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4782312"/>
            <a:ext cx="4517136" cy="1115568"/>
          </a:xfrm>
          <a:prstGeom prst="roundRect">
            <a:avLst>
              <a:gd name="adj" fmla="val 409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487375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48646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" y="52395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gastamos para sostener recursos, actividades y socios. Fijos y variables.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56048" y="4782312"/>
            <a:ext cx="6803136" cy="1115568"/>
          </a:xfrm>
          <a:prstGeom prst="roundRect">
            <a:avLst>
              <a:gd name="adj" fmla="val 409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7488" y="487375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47488" y="4873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76672" y="486460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065776" y="52395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el dinero desde cada segmento: suscripción, licencia, uso, comisión, servicios.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384048" y="61447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= eficiencia (cómo se produce el valor)          ·          Centro = la propuesta de valor          ·          Derecha = valor para el cliente (cómo se entrega)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orden se llena?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del bloque no es el orden de llenado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92224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992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empieza por saber a quién sirves.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2734056"/>
            <a:ext cx="438912" cy="43891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517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de ese segmento resuelves.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83864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" y="3675888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935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 tu propuesta hasta el cliente.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425696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4617720"/>
            <a:ext cx="438912" cy="43891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354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conservas después de la venta.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367528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" y="5559552"/>
            <a:ext cx="438912" cy="43891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4088" y="5559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77256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valor está dispuesto a pagar.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0528" y="1792224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10528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1709928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necesitas para entregar todo lo anterior.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2542032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0528" y="2734056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10528" y="27340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2651760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que hacer de forma sostenida.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3483864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10528" y="3675888"/>
            <a:ext cx="438912" cy="43891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10528" y="3675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3593592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haces tú y quién lo hace por ti.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4425696"/>
            <a:ext cx="5440680" cy="822960"/>
          </a:xfrm>
          <a:prstGeom prst="roundRect">
            <a:avLst>
              <a:gd name="adj" fmla="val 6667"/>
            </a:avLst>
          </a:prstGeom>
          <a:solidFill>
            <a:srgbClr val="F2F4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0528" y="4617720"/>
            <a:ext cx="438912" cy="43891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10528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535424"/>
            <a:ext cx="4526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sostener el modelo completo.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54864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DF1D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92240" y="55595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cambias el segmento de clientes, vuelve a revisar los nueve bloques. Ningún bloque es independiente.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Segmentos de clientes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grupos distintos de personas u organizaciones a los que el software sirve. Cada segmento tiene un problema, un lenguaje y una disposición a pagar diferentes.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tres papeles: quién usa el sistema, quién paga la licencia y quién autoriza la compra.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arquetipos (personas) con su contexto técnico real: dispositivos, conectividad, nivel digital.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mercado de nicho o masivo, y si es B2B, B2C, B2G o multilateral (plataforma de dos lados).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segmento de entrada (beachhead): el que más sufre el problema y es más fácil de alcanzar.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mecánicos independientes de 3 a 10 empleados en ciudades medias del Bajío. Usuario diario: jefe de taller. Quien paga y decide: el dueño.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creamos valor, en una frase?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usa el software a diario y quién firma el pago?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segmento sufre el problema con más intensidad y frecuencia?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son, dónde están y cómo los contactamos?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segmento arrancamos y cuál dejamos para después?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que el mercado es «cualquier persona con un teléfono». Un segmento que no se puede describir, contar ni contactar no es un segmento.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OFERTA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conjunto de productos y servicios que resuelven un problema o satisfacen una necesidad del segmento. Es la razón por la que el cliente te elige a ti y no a su alternativa actual.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Formúlala como resultado medible para el cliente, no como lista de funcionalidades.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 alternativa real que hoy usa: Excel, papel, WhatsApp, otro sistema o no hacer nada.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palanca de valor: automatización, desempeño, personalización, accesibilidad, precio o reducción de riesgo.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explícitamente qué NO hace el producto; el alcance también es propuesta de valor.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«Reduce de 3 horas a 20 minutos diarios el control de órdenes de servicio y elimina las refacciones que hoy se instalan sin cobrarse.»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FDF1D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específico resolvemos y para quién?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hoy el cliente sin nosotros y qué le cuesta?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de forma medible: tiempo, dinero, errores evitados, cumplimiento?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nosotros y no la alternativa que ya tiene?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queda fuera del alcance de la primera versión?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un catálogo de módulos y pantallas. Las funcionalidades son el medio; el valor es el cambio que produce en el trabajo del cliente.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 empresa se comunica con sus segmentos y les entrega la propuesta de valor. Abarca desde que el cliente se entera de que existes hasta la posventa.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las cinco fases: conocimiento, evaluación, compra, entrega y posventa.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canal de prueba: demo guiada, versión de prueba, sandbox o entorno de evaluación.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canal de entrega técnica: web, tienda de aplicaciones, instalación en sitio o nube privada.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canales propios (sitio, equipo de venta) de canales de socios (distribuidores, integradores).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 distribuidores de refacciones (socio) · demo guiada de 15 minutos · alta en línea · aplicación web instalable · soporte por WhatsApp y videollamada.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entera el cliente de que existimos?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puede probar el producto antes de pagar?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contrata, lo instala y lo empieza a usar?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recibe soporte, capacitación y actualizaciones?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canal es el más barato por cliente adquirido?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Suponer que publicar en una tienda de aplicaciones equivale a tener un canal de distribución. Publicar no es distribuir.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clientes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CLIENTE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relación que se establece con cada segmento, desde la captación hasta la fidelización. Determina buena parte del costo de operación y de la permanencia del cliente.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modo: autoservicio, asistencia personal, comunidad, éxito del cliente o cocreación.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el arranque (onboarding): los primeros siete días definen si el cliente se queda.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mides y reduces el abandono (churn) y cómo detectas al cliente en riesgo.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se automatiza (correos, tutoriales, base de conocimiento) y qué exige una persona.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mes: acompañamiento en sitio de una hora y migración de datos. Después: autoservicio con base de conocimiento, más soporte por WhatsApp en horario hábil.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0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relación espera cada segmento y cuál está dispuesto a pagar?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acompañamos al cliente en sus primeros días de uso?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para que no nos abandone y cómo lo detectamos a tiempo?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de la relación se automatiza y cuál es humana?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al mes sostener esa relación por cliente?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con detalle la adquisición y olvidar la retención. En un modelo de suscripción, retener cuesta mucho menos que volver a vender.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ingresos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2E8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que la empresa genera en cada segmento. Responde por qué valor paga realmente el cliente, cómo paga y cuánto aporta cada fuente al total.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mecanismo: suscripción, licencia, pago por uso, freemium, comisión, publicidad o servicios.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el precio por el valor entregado y por lo que hoy le cuesta el problema, no por tus horas.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unidad de cobro: por usuario, por sucursal, por transacción, por volumen de datos.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momento del flujo: cuándo cobras frente a cuándo gastas en desarrollo e infraestructura.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de $899 al mes por taller con hasta cinco usuarios · implementación inicial de $2,500 por única vez · 2% de comisión en compras de refacciones hechas dentro de la aplicación.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3F1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valor concreto está dispuesto a pagar el cliente?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gasta hoy en resolver ese problema por otros medios?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cobramos: mensual, anual, por uso, único, por comisión?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precio, cómo lo justificamos y qué planes ofrecemos?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porcentaje del ingreso total aporta cada fuente?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precio sumando el costo de desarrollo más un margen. El cliente no paga tu esfuerzo, paga el resultado que obtiene.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clave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activos imprescindibles para que el modelo funcione: sin ellos, la propuesta de valor no puede entregarse. Pueden ser humanos, tecnológicos, intelectuales o financieros.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Humanos: perfiles y nivel de experiencia reales que exige el stack elegido.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Tecnológicos: infraestructura en la nube, entornos, repositorios, canalizaciones de integración continua.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Intelectuales: código propietario, marca, algoritmos, conjuntos de datos, licencias de terceros.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qué datos necesitas, de dónde salen y bajo qué base legal los tratas.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desarrolladores de tiempo completo · un diseñador de experiencia a medio tiempo · infraestructura en la nube (~120 USD al mes) · catálogo de refacciones licenciado · base de datos de precios propia.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perfiles técnicos necesita el equipo y con qué dedicación?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infraestructura requiere el sistema y cuánto cuesta al mes?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datos necesitamos, cómo los obtenemos y cómo los protegemos?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activo es difícil de copiar por un competidor?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licencias o servicios de terceros dependemos de forma crítica?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Enlistar «computadoras e internet» y omitir el costo real de la nube, las licencias y el tiempo de las personas.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 clave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acciones más importantes que la organización debe realizar de forma sostenida para que el modelo funcione. No son tareas puntuales, son procesos permanentes.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y mantenimiento: proceso, cadencia de entregas, gestión de deuda técnica.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la plataforma: despliegue, monitoreo, respaldos, disponibilidad, incidentes.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cumplimiento: protección de datos personales, auditoría, control de accesos.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y posventa: venta, implementación, migración de datos, capacitación y soporte.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Iteraciones de dos semanas · migración de datos históricos de cada cliente nuevo · monitoreo continuo y respaldos diarios · capacitación presencial en la puesta en marcha.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debemos hacer cada semana para que el modelo funcione?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actividades sostienen directamente la propuesta de valor?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internamente y qué conviene contratar fuera?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aseguramos calidad, seguridad y disponibilidad del servicio?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proceso de desarrollo usaremos y por qué se ajusta a este modelo?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las actividades clave a «programar». Vender, implementar, operar y dar soporte suelen consumir más esfuerzo que escribir código.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Socios clave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4A47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INFRAESTRUCTURA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 proveedores y aliados que hacen que el modelo funcione. Se busca con ellos optimizar costos, reducir riesgo o adquirir recursos y clientes que no se tienen.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de infraestructura y servicios administrados en la nube.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de programación de terceros: pagos, mensajería, mapas, identidad, facturación electrónica.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de distribución: integradores, distribuidores regionales, cámaras y asociaciones del sector.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Ecosistema: comunidad de código abierto, incubadoras, universidades, programas de gobierno.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· proveedor de mensajería para notificaciones · distribuidores regionales de refacciones como canal de venta · incubadora del TecNM para acompañamiento.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9E8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4A4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provee lo que hemos decidido no construir?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servicios de terceros son críticos y qué ocurre si fallan o suben de precio?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nos da acceso rápido a clientes que no alcanzaríamos solos?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alianza reduce nuestro riesgo técnico, legal o financiero?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aportamos nosotros en cada alianza y bajo qué condiciones?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un servicio externo crítico sin plan alterno y sin haber leído sus condiciones de uso, límites de consumo ni política de precios.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713232" cy="713232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474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47472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costos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89720" y="548640"/>
            <a:ext cx="2496312" cy="347472"/>
          </a:xfrm>
          <a:prstGeom prst="roundRect">
            <a:avLst>
              <a:gd name="adj" fmla="val 50000"/>
            </a:avLst>
          </a:prstGeom>
          <a:solidFill>
            <a:srgbClr val="2E8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89720" y="548640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ÁREA: FINANZAS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234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RESPONDE ESTE BLOQUE?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517904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costos en que se incurre para operar el modelo. Se derivan directamente de los recursos, las actividades y los socios que ya declaraste.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4871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DE SOFTWARE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761488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costos fijos (nómina, infraestructura base, licencias) de variables (consumo por usuario, comisiones, soporte).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la inversión inicial de desarrollo del costo mensual de operación.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cuánto cuesta atender a un cliente adicional: ahí se decide si el modelo escala.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el costo de adquirir un cliente y compáralo con lo que ese cliente deja en toda la relación.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956048"/>
            <a:ext cx="5715000" cy="13716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06577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TALLERPRO (caso de la diapositiva 18)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 del equipo · infraestructura en la nube · comisión de la pasarela (3%) · costo de adquisición estimado de $1,800 por taller · punto de equilibrio en 101 talleres activos.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5239512" cy="3246120"/>
          </a:xfrm>
          <a:prstGeom prst="roundRect">
            <a:avLst>
              <a:gd name="adj" fmla="val 1690"/>
            </a:avLst>
          </a:prstGeom>
          <a:solidFill>
            <a:srgbClr val="E3F1E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2E8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GUÍA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69164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son los cinco costos más grandes del modelo?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costos crecen con cada cliente o usuario nuevo?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nos cuesta conseguir un cliente y cuánto atenderlo al mes?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modelo se rige por costos o por valor?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clientes necesitamos para llegar al punto de equilibrio?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590288"/>
            <a:ext cx="5239512" cy="1737360"/>
          </a:xfrm>
          <a:prstGeom prst="roundRect">
            <a:avLst>
              <a:gd name="adj" fmla="val 3158"/>
            </a:avLst>
          </a:prstGeom>
          <a:solidFill>
            <a:srgbClr val="FBE9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B23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MÁS COMÚN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0292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solo el costo de desarrollo y omitir infraestructura, soporte, comisiones y el costo de adquirir cada cliente.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cobra el software: modelos de monetización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para el bloque 5 — Fuentes de ingresos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11183112" cy="4437888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cobra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conviene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principal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(SaaS)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Cuota recurrente por usuario o por cuenta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valor se entrega de forma continua y el uso es frecuente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Abandono mensual (churn)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gratuita + funciones de pago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masivo con crecimiento por recomendación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Sostener a quienes nunca pagarán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perpetua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único más mantenimiento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corporativos o de gobierno con compra por proyecto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no recurrente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por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transacción, llamada a la API o volumen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consumo varía mucho entre clientes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 difícil de predecir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Comisión (marketplace)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 de cada transacción intermediada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plataforma conecta oferta y demanda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Arranque en frío de los dos lados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Impresiones, clics o patrocinios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 volumen de usuarios sin disposición a pagar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escala muy 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abierto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Núcleo libre + edición empresarial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técnico con comunidad activa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Competir contra tu propia versión gratuita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profesionales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Implementación, integración y capacitación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producto exige adopción y configuración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escala de forma proporcional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1536192"/>
            <a:ext cx="11183112" cy="47548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5216" y="153619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008376" y="15361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cobra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025896" y="15361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conviene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9226296" y="1536192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combinar modelos, pero justifica cada uno: qué segmento lo paga, qué valor cubre y qué porcentaje del ingreso representa.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ejemplo: TallerPro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resuelto para comparar con el de tu equipo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F1B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observado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D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talleres mecánicos pequeños las órdenes de servicio se llevan en libretas y WhatsApp. El dueño no sabe cuánto ganó por orden, se instalan refacciones que nunca se cobran y el cliente final no recibe información del avance de su vehículo.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propuesta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2976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instalable para registrar órdenes de servicio, controlar refacciones e inventario, calcular la utilidad por orden y notificar automáticamente al cliente final por mensajería el avance de su reparación.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5486400"/>
            <a:ext cx="5486400" cy="749808"/>
          </a:xfrm>
          <a:prstGeom prst="roundRect">
            <a:avLst>
              <a:gd name="adj" fmla="val 7317"/>
            </a:avLst>
          </a:prstGeom>
          <a:solidFill>
            <a:srgbClr val="FDF1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555955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caso es ficticio y sirve como referencia de nivel de detalle esperado, no como respuesta modelo a copiar.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76672" cy="4681728"/>
          </a:xfrm>
          <a:prstGeom prst="roundRect">
            <a:avLst>
              <a:gd name="adj" fmla="val 1563"/>
            </a:avLst>
          </a:prstGeom>
          <a:solidFill>
            <a:srgbClr val="F2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Cifras que sostienen el modelo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585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por taller (plan base, 5 usuarios)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A4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$1,800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14553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estimado de adquirir un taller (CAC)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0142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8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$16,487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3250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estimado del cliente en 18 meses (LTV)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9011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9194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activos necesarios para el punto de equilibrio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7424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LTV/CAC ≈ 9:1. Una relación menor a 3:1 obliga a revisar precio, retención o canal.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TallerPro: el lienzo completo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Pasarela de pagos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Proveedor de mensajería (notificaciones al cliente final)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Distribuidores regionales de refacciones (canal de venta)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Proveedor de nube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Incubadora del TecNM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70048" y="1188720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1488" y="128016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79776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Desarrollo en iteraciones de 2 semanas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Migración de datos del taller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Operación, respaldos y monitoreo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Venta en campo y capacitación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0048" y="3044952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9E8F6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313639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6148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31272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79776" y="350215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desarrolladores full-stack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diseñador UX medio tiempo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Infraestructura en la nube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Catálogo de refacciones licenciado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56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FDF1DC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28016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47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65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 la orden de servicio en una sola pantalla.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3 h a 20 min diarios de control administrativo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Cero refacciones instaladas sin cobrar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Utilidad real por orden, visible al cierre del día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cliente final recibe avisos del avance sin llamar al taller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incluye: facturación electrónica ni contabilidad (se integra con terceros).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42048" y="1188720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33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33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62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51776" y="16459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Implementación acompañada el primer mes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Después, autoservicio con base de conocimiento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Soporte por mensajería en horario hábil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3044952"/>
            <a:ext cx="2231136" cy="1801368"/>
          </a:xfrm>
          <a:prstGeom prst="roundRect">
            <a:avLst>
              <a:gd name="adj" fmla="val 2538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33488" y="313639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3348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31272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51776" y="350215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Distribuidores de refacciones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guiada de 15 min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y contratación en línea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web instalable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28048" y="1188720"/>
            <a:ext cx="2231136" cy="3657600"/>
          </a:xfrm>
          <a:prstGeom prst="roundRect">
            <a:avLst>
              <a:gd name="adj" fmla="val 2049"/>
            </a:avLst>
          </a:prstGeom>
          <a:solidFill>
            <a:srgbClr val="E0F4F4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9488" y="128016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619488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948672" y="127101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637776" y="1645920"/>
            <a:ext cx="20116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mecánicos independientes de 3 a 10 empleados, en ciudades medias del Bajío.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Usuario: jefe de taller y mecánicos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Paga y decide: el dueño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Beneficiario indirecto: el cliente final del taller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talleres ya digitalizados en cobro con terminal.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4919472"/>
            <a:ext cx="4517136" cy="1207008"/>
          </a:xfrm>
          <a:prstGeom prst="roundRect">
            <a:avLst>
              <a:gd name="adj" fmla="val 378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" y="501091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500176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" y="53766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Fijos: nómina del equipo · infraestructura base · licencia del catálogo.   Variables: consumo de nube y mensajería por taller · 3% de comisión de la pasarela · soporte.   Adquisición: $1,800 por taller.   Punto de equilibrio: 101 talleres activos.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56048" y="4919472"/>
            <a:ext cx="6803136" cy="1207008"/>
          </a:xfrm>
          <a:prstGeom prst="roundRect">
            <a:avLst>
              <a:gd name="adj" fmla="val 3788"/>
            </a:avLst>
          </a:prstGeom>
          <a:solidFill>
            <a:srgbClr val="E3F1EB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47488" y="501091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47488" y="5010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376672" y="500176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065776" y="537667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de $899 por taller (hasta 5 usuarios) · Plan ampliado de $1,499 con inventario multialmacén · Implementación inicial de $2,500 por única vez · 2% de comisión sobre compras de refacciones hechas dentro de la aplicación.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384048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la coherencia: cada canal tiene un segmento, cada actividad tiene un recurso que la sostiene y cada costo se deriva de un recurso, actividad o socio ya declarado.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 al presentar el Canvas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esta lista antes de exponer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0195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078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Enamorarse de la solución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describe el sistema durante diez minutos y el problema del cliente nunca aparece.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90195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70078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«todos»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mercado sin límites es un mercado que no se puede alcanzar ni medir.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9067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8950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disfrazadas de valor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«Tiene panel de control y reportes» no es una propuesta de valor; es una pantalla.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276148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309067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88950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sin origen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de mercado o de precio que nadie puede explicar de dónde salieron.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27939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07822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incompletos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el desarrollo y se olvidan nube, soporte, comisiones y adquisición de clientes.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395020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427939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07822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inconexos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canal que no sirve a ningún segmento, o un recurso que ninguna actividad usa.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" y="513892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46811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26694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inexistente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«No tenemos competencia» casi siempre significa que no se buscó o que no hay mercado.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5138928"/>
            <a:ext cx="5422392" cy="1060704"/>
          </a:xfrm>
          <a:prstGeom prst="roundRect">
            <a:avLst>
              <a:gd name="adj" fmla="val 5172"/>
            </a:avLst>
          </a:prstGeom>
          <a:solidFill>
            <a:srgbClr val="F2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7960" y="5468112"/>
            <a:ext cx="402336" cy="402336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5468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5266944"/>
            <a:ext cx="4498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 hipótesis, nada está validado
</a:t>
            </a: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entrevista, ninguna prueba, ningún dato: solo opiniones del equipo.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mínima antes de exponer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casilla del lienzo es una hipótesis hasta que alguien externo la confirma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37360"/>
            <a:ext cx="2084832" cy="658368"/>
          </a:xfrm>
          <a:prstGeom prst="rect">
            <a:avLst/>
          </a:prstGeom>
          <a:solidFill>
            <a:srgbClr val="00A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Entrevistas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8 conversaciones con personas del segmento real. Pregunta por lo que hacen hoy, no por si les gustaría tu idea.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2606040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10" name="Shape 8"/>
          <p:cNvSpPr/>
          <p:nvPr/>
        </p:nvSpPr>
        <p:spPr>
          <a:xfrm>
            <a:off x="2779776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2779776" y="1737360"/>
            <a:ext cx="2084832" cy="658368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79776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la propuesta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navegable o una página de aterrizaje. Mide si el problema descrito les resulta suyo.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82896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56632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6632" y="1737360"/>
            <a:ext cx="2084832" cy="658368"/>
          </a:xfrm>
          <a:prstGeom prst="rect">
            <a:avLst/>
          </a:prstGeom>
          <a:solidFill>
            <a:srgbClr val="4A47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56632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mínimo viable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más pequeña que entrega el valor prometido a un usuario real, no una demostración.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59752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33488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333488" y="1737360"/>
            <a:ext cx="2084832" cy="65836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33488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precio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cuánto pagarían y, mejor aún, pide una carta de intención o un anticipo.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36608" y="3657600"/>
            <a:ext cx="155448" cy="155448"/>
          </a:xfrm>
          <a:prstGeom prst="triangle">
            <a:avLst/>
          </a:prstGeom>
          <a:solidFill>
            <a:srgbClr val="C9CED6"/>
          </a:solidFill>
          <a:ln/>
        </p:spPr>
      </p:sp>
      <p:sp>
        <p:nvSpPr>
          <p:cNvPr id="28" name="Shape 26"/>
          <p:cNvSpPr/>
          <p:nvPr/>
        </p:nvSpPr>
        <p:spPr>
          <a:xfrm>
            <a:off x="9610344" y="173736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0344" y="1737360"/>
            <a:ext cx="2084832" cy="658368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10344" y="1737360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811512" y="25786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decisión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11512" y="3291840"/>
            <a:ext cx="17190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Activación, retención a 30 días y conversión. Define de antemano qué resultado te haría cambiar el modelo.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58978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un Canvas con cero validación es presentar una opinión. Una sola entrevista bien documentada ya cambia la conversación con el jurado.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de coherencia del modelo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cruces que debes poder responder con «sí» antes de entregar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46504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6276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de clientes tiene al menos un canal que lo alcanza.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03704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322576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037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tiene una propuesta de valor escrita en sus términos, no en los tuyos.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898648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77977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propuesta de valor tiene asociada al menos una fuente de ingresos.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355848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474720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33558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actividad clave se sostiene con algún recurso clave o algún socio declarado.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050792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9319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costo relevante se origina en un recurso, una actividad o un socio de tu lienzo.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507992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626864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50799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se justifica con el valor entregado, no con el costo de desarrollo.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5202936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508406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relación con el cliente es compatible con el precio y con el costo de atenderlo.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660136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" y="5779008"/>
            <a:ext cx="265176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0A6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43000" y="56601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cuál es el supuesto más riesgoso del modelo y cómo piensas ponerlo a prueba.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6291072"/>
            <a:ext cx="11183112" cy="18288"/>
          </a:xfrm>
          <a:prstGeom prst="round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Guion para exponer tu propuesta en 10 minutos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1024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sugerida para la presentación del equipo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0A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1:30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segmento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6002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sufre qué, con un dato o una cita de tus entrevistas.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4A3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2585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3:00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2585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225856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para ese cliente, en resultados medibles.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16936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9169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4:30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29169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o prototipo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29169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corto por el flujo principal, no por todos los módulos.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2E8B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35753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 – 6:00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5753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y costos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57530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cobras, cuánto cuesta operar y el punto de equilibrio.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233672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4A47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42336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7:30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2336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entrega y se sostiene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2336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Canales, relación con el cliente, recursos, actividades y socios.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5B647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4892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 – 8:30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77440" y="4892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riesgos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0" y="48920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ya comprobaste, qué sigue siendo hipótesis y cuál es tu mayor riesgo.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550408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F1B3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2920" y="55504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10:00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5550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petición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55040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necesitas para el siguiente paso y preguntas del jurado.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el lienzo completo impreso o en una diapositiva de respaldo: el jurado casi siempre pregunta por costos y por el supuesto más riesgoso.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EBE454F0-A6EE-2641-5088-11917EA6C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967" y="0"/>
            <a:ext cx="12229934" cy="685799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17633" y="411480"/>
            <a:ext cx="3017520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91164" y="411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6E6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ALLY-EDUC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965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600" i="1" dirty="0">
                <a:solidFill>
                  <a:schemeClr val="bg1">
                    <a:lumMod val="75000"/>
                  </a:schemeClr>
                </a:solidFill>
              </a:rPr>
              <a:t>Transformamos equipos inactivos en Aulas Interactivas y proveemos una Intranet comunitaria offline con Tutor IA, eliminando la dependencia económica de internet en zonas rurales.</a:t>
            </a:r>
            <a:endParaRPr lang="en-US" sz="17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Piedra Sánchez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Y GRUPO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86422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Grupo B 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315468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OBJETIVO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611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Tx/>
              <a:buChar char="-"/>
            </a:pP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rurales</a:t>
            </a:r>
          </a:p>
          <a:p>
            <a:pPr marL="285750" indent="-285750">
              <a:buFontTx/>
              <a:buChar char="-"/>
            </a:pP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Micro-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 (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</a:t>
            </a: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5196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8056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ACTUAL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5074920"/>
            <a:ext cx="31148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01000" y="4617720"/>
            <a:ext cx="3520440" cy="1234440"/>
          </a:xfrm>
          <a:prstGeom prst="roundRect">
            <a:avLst>
              <a:gd name="adj" fmla="val 4444"/>
            </a:avLst>
          </a:prstGeom>
          <a:solidFill>
            <a:srgbClr val="2B26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0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ENTREGA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074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8A8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09 / 2026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362931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384048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32520" y="384048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ESTE LIENZO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Lienzo del modelo de negocio de nuestro proyecto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4300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clave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0048" y="1051560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143000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61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clave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70048" y="2930652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4A47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3022092"/>
            <a:ext cx="274320" cy="274320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61488" y="3022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90672" y="301294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clave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56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1143000"/>
            <a:ext cx="274320" cy="2743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47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76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13435" y="1525778"/>
            <a:ext cx="1826091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un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terabytes (Wikipedia,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PhET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un Tutor Privado con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Artificial 24/7 que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funcionará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offline,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eliminando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celulares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internet</a:t>
            </a:r>
          </a:p>
        </p:txBody>
      </p:sp>
      <p:sp>
        <p:nvSpPr>
          <p:cNvPr id="25" name="Shape 23"/>
          <p:cNvSpPr/>
          <p:nvPr/>
        </p:nvSpPr>
        <p:spPr>
          <a:xfrm>
            <a:off x="7242048" y="1051560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33488" y="114300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33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62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clientes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42048" y="2930652"/>
            <a:ext cx="2231136" cy="1824228"/>
          </a:xfrm>
          <a:prstGeom prst="roundRect">
            <a:avLst>
              <a:gd name="adj" fmla="val 250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33488" y="3022092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33488" y="30220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62672" y="2993771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23600" y="3331464"/>
            <a:ext cx="2170176" cy="1458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reunions con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Ejidales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Ayuntamientos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Tecnologico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Cautivo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que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traves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radioenlaces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5GHz</a:t>
            </a:r>
          </a:p>
          <a:p>
            <a:pPr marL="0" indent="0">
              <a:buNone/>
            </a:pP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528048" y="1051560"/>
            <a:ext cx="2231136" cy="3703320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19488" y="1143000"/>
            <a:ext cx="274320" cy="274320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19488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1133856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de clientes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589008" y="1517904"/>
            <a:ext cx="2078736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rurales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marginadas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rurales con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inactivo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Tomadores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fondeadores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Ayuntamientos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 y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84048" y="4828032"/>
            <a:ext cx="4517136" cy="18242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" y="491947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" y="491032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costos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56048" y="4828032"/>
            <a:ext cx="6803136" cy="18242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2E8B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47488" y="4919472"/>
            <a:ext cx="274320" cy="274320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47488" y="4919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376672" y="4910328"/>
            <a:ext cx="6291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ingresos</a:t>
            </a:r>
            <a:endParaRPr lang="en-US" sz="110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0AA841F8-D8C8-EB15-2C35-20F36F52EC11}"/>
              </a:ext>
            </a:extLst>
          </p:cNvPr>
          <p:cNvSpPr txBox="1"/>
          <p:nvPr/>
        </p:nvSpPr>
        <p:spPr>
          <a:xfrm>
            <a:off x="7357872" y="1536023"/>
            <a:ext cx="202251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docents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hardware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manera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general.</a:t>
            </a:r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7A69EB99-4F4E-437C-2F92-1E1ECD60E939}"/>
              </a:ext>
            </a:extLst>
          </p:cNvPr>
          <p:cNvSpPr txBox="1"/>
          <p:nvPr/>
        </p:nvSpPr>
        <p:spPr>
          <a:xfrm>
            <a:off x="5071872" y="5265674"/>
            <a:ext cx="6595872" cy="1322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“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o pines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sitios locales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Pólizas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Social (ONGs):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Donativos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fundaciones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rural.</a:t>
            </a:r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1225C6C2-9E8B-A3C6-65B2-86465028133C}"/>
              </a:ext>
            </a:extLst>
          </p:cNvPr>
          <p:cNvSpPr txBox="1"/>
          <p:nvPr/>
        </p:nvSpPr>
        <p:spPr>
          <a:xfrm>
            <a:off x="2688256" y="3363976"/>
            <a:ext cx="2231136" cy="122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Tecnologicos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(Hardware y Red):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Microservidor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exteriores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(5GHz),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(Software): 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RAG, LLMs,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interactivo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Humanos: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software y redes para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8A70B5C0-315C-F01F-67FA-77F2E8CBB1F2}"/>
              </a:ext>
            </a:extLst>
          </p:cNvPr>
          <p:cNvSpPr txBox="1"/>
          <p:nvPr/>
        </p:nvSpPr>
        <p:spPr>
          <a:xfrm>
            <a:off x="2761488" y="1444752"/>
            <a:ext cx="2055029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aula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red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pines de 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1D2F1E75-21C8-BF67-9BC1-717C6A3BB09F}"/>
              </a:ext>
            </a:extLst>
          </p:cNvPr>
          <p:cNvSpPr txBox="1"/>
          <p:nvPr/>
        </p:nvSpPr>
        <p:spPr>
          <a:xfrm>
            <a:off x="437468" y="1545336"/>
            <a:ext cx="2170176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Ayuntamientos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Asambleas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Ejidales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tenencia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locales (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venden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b="1" dirty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CONAFE </a:t>
            </a:r>
          </a:p>
          <a:p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CCF93911-EC9F-AB84-7E95-F97741A70532}"/>
              </a:ext>
            </a:extLst>
          </p:cNvPr>
          <p:cNvSpPr txBox="1"/>
          <p:nvPr/>
        </p:nvSpPr>
        <p:spPr>
          <a:xfrm>
            <a:off x="490728" y="5312664"/>
            <a:ext cx="431901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hardware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Viáticos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endParaRPr 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 de </a:t>
            </a:r>
            <a:r>
              <a:rPr lang="en-US" sz="10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red</a:t>
            </a:r>
          </a:p>
          <a:p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32520" y="4114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ESTAS FICHAS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Detalle, validación y entrega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45336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 en una frase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85166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Ayudamos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rurales a 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mejorar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la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mediante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intranet offline 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con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IA y aulas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costosos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limitados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internet.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45336"/>
            <a:ext cx="146304" cy="146304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ingresos y precio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1856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Venta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infraestructura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pólizas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escuelas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y micro-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fisicas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prepago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efectivo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 para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099816"/>
            <a:ext cx="146304" cy="146304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costos principales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AutoNum type="arabicPeriod"/>
            </a:pPr>
            <a:r>
              <a:rPr lang="en-US" sz="1200" dirty="0"/>
              <a:t>Hardware (</a:t>
            </a:r>
            <a:r>
              <a:rPr lang="en-US" sz="1200" dirty="0" err="1"/>
              <a:t>microservidor</a:t>
            </a:r>
            <a:r>
              <a:rPr lang="en-US" sz="1200" dirty="0"/>
              <a:t> y </a:t>
            </a:r>
            <a:r>
              <a:rPr lang="en-US" sz="1200" dirty="0" err="1"/>
              <a:t>antenas</a:t>
            </a:r>
            <a:r>
              <a:rPr lang="en-US" sz="1200" dirty="0"/>
              <a:t> 5GHz)</a:t>
            </a:r>
          </a:p>
          <a:p>
            <a:pPr marL="228600" indent="-228600">
              <a:buAutoNum type="arabicPeriod"/>
            </a:pPr>
            <a:r>
              <a:rPr lang="en-US" sz="1200" dirty="0" err="1"/>
              <a:t>Viáticos</a:t>
            </a:r>
            <a:r>
              <a:rPr lang="en-US" sz="1200" dirty="0"/>
              <a:t> de </a:t>
            </a:r>
            <a:r>
              <a:rPr lang="en-US" sz="1200" dirty="0" err="1"/>
              <a:t>instalación</a:t>
            </a:r>
            <a:r>
              <a:rPr lang="en-US" sz="1200" dirty="0"/>
              <a:t> y </a:t>
            </a:r>
            <a:r>
              <a:rPr lang="en-US" sz="1200" dirty="0" err="1"/>
              <a:t>mantenimiento</a:t>
            </a:r>
            <a:endParaRPr lang="en-US" sz="1200" dirty="0"/>
          </a:p>
          <a:p>
            <a:pPr marL="228600" indent="-228600">
              <a:buAutoNum type="arabicPeriod"/>
            </a:pPr>
            <a:r>
              <a:rPr lang="en-US" sz="1200" dirty="0"/>
              <a:t>Logistica e </a:t>
            </a:r>
            <a:r>
              <a:rPr lang="en-US" sz="1200" dirty="0" err="1"/>
              <a:t>impresión</a:t>
            </a:r>
            <a:r>
              <a:rPr lang="en-US" sz="1200" dirty="0"/>
              <a:t> de </a:t>
            </a:r>
            <a:r>
              <a:rPr lang="en-US" sz="1200" dirty="0" err="1"/>
              <a:t>fichas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099816"/>
            <a:ext cx="146304" cy="1463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11112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validamos y con quién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Validado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directivos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asambleas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confirmamos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existencia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equipos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inutilizados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viabilidad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cobrar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micro-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suscripciones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efectivo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localmente</a:t>
            </a:r>
            <a:endParaRPr lang="en-US" sz="1200" dirty="0">
              <a:latin typeface="Calibri (cuerpo)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4654296"/>
            <a:ext cx="146304" cy="146304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más riesgoso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Que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comercios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locales (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tienditas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cooperativas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acepten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distribuir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fisicas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cambio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comisión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manera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confiable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>
              <a:latin typeface="Calibri (cuerpo)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53912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654296"/>
            <a:ext cx="146304" cy="146304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11112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 y petición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Desplegar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microservidor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piloto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escula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rural para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medir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adoptarán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esta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aula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especializada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medir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las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ventas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lote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prueba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 de las </a:t>
            </a:r>
            <a:r>
              <a:rPr lang="en-US" sz="1200" dirty="0" err="1">
                <a:latin typeface="Calibri (cuerpo)"/>
                <a:ea typeface="Calibri" pitchFamily="34" charset="-122"/>
                <a:cs typeface="Calibri" pitchFamily="34" charset="-120"/>
              </a:rPr>
              <a:t>fichas</a:t>
            </a:r>
            <a:r>
              <a:rPr lang="en-US" sz="1200" dirty="0">
                <a:latin typeface="Calibri (cuerpo)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Calibri (cuerpo)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este archivo con las diapositivas 23 a 25 completas, más el archivo de Excel con el cuestionario contestado y el checklist en verde.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1480"/>
            <a:ext cx="2953512" cy="384048"/>
          </a:xfrm>
          <a:prstGeom prst="roundRect">
            <a:avLst>
              <a:gd name="adj" fmla="val 47619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32520" y="4114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8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· LLENA ESTAS FICHAS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Detalle, validación y entrega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545336"/>
            <a:ext cx="146304" cy="146304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valor en una frase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56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«Ayudamos a [segmento] a [resultado medible] mediante [solución], a diferencia de [alternativa actual].»</a:t>
            </a:r>
          </a:p>
          <a:p>
            <a:pPr marL="0" indent="0">
              <a:buNone/>
            </a:pPr>
            <a:endParaRPr lang="en-US" sz="1200" i="1" dirty="0">
              <a:solidFill>
                <a:srgbClr val="9A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u="sng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Ayudamos</a:t>
            </a:r>
            <a:r>
              <a:rPr lang="en-US" sz="1200" i="1" u="sng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i="1" u="sng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</a:t>
            </a:r>
            <a:r>
              <a:rPr lang="en-US" sz="1200" i="1" u="sng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rurales a </a:t>
            </a:r>
            <a:endParaRPr lang="en-US" sz="1200" u="sng" dirty="0"/>
          </a:p>
        </p:txBody>
      </p:sp>
      <p:sp>
        <p:nvSpPr>
          <p:cNvPr id="9" name="Shape 7"/>
          <p:cNvSpPr/>
          <p:nvPr/>
        </p:nvSpPr>
        <p:spPr>
          <a:xfrm>
            <a:off x="6153912" y="132588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545336"/>
            <a:ext cx="146304" cy="146304"/>
          </a:xfrm>
          <a:prstGeom prst="ellipse">
            <a:avLst/>
          </a:prstGeom>
          <a:solidFill>
            <a:srgbClr val="2E8B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145389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ingresos y precio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1856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elegido, unidad de cobro, precio y su justificación. Ingreso mensual </a:t>
            </a:r>
            <a:r>
              <a:rPr lang="en-US" sz="120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</a:t>
            </a: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200" i="1" dirty="0">
              <a:solidFill>
                <a:srgbClr val="9A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micro-</a:t>
            </a:r>
            <a:r>
              <a:rPr lang="en-US" sz="120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099816"/>
            <a:ext cx="146304" cy="146304"/>
          </a:xfrm>
          <a:prstGeom prst="ellipse">
            <a:avLst/>
          </a:prstGeom>
          <a:solidFill>
            <a:srgbClr val="4A47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costos principales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costos más grandes del modelo y cuáles crecen con cada cliente nuevo.</a:t>
            </a:r>
          </a:p>
          <a:p>
            <a:pPr marL="0" indent="0">
              <a:buNone/>
            </a:pPr>
            <a:endParaRPr lang="en-US" sz="1200" i="1" dirty="0">
              <a:solidFill>
                <a:srgbClr val="9AA3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 err="1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Microservidor</a:t>
            </a: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288036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3099816"/>
            <a:ext cx="146304" cy="146304"/>
          </a:xfrm>
          <a:prstGeom prst="ellipse">
            <a:avLst/>
          </a:prstGeom>
          <a:solidFill>
            <a:srgbClr val="00A6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11112" y="300837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validamos y con quién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entrevistas, a quién, qué aprendimos y qué cambió en el lienzo por eso.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" y="4654296"/>
            <a:ext cx="146304" cy="146304"/>
          </a:xfrm>
          <a:prstGeom prst="ellipse">
            <a:avLst/>
          </a:prstGeom>
          <a:solidFill>
            <a:srgbClr val="D955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más riesgoso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supuesto que, de ser falso, derrumba el modelo. Cómo piensan ponerlo a prueba y cuándo.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53912" y="4434840"/>
            <a:ext cx="5532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4654296"/>
            <a:ext cx="146304" cy="146304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11112" y="4562856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 y petición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49651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harán en las próximas cuatro semanas y qué necesitan para lograrlo.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893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este archivo con las diapositivas 23 a 25 completas, más el archivo de Excel con el cuestionario contestado y el checklist en verde.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02751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1061D368890844BCDF55F45CE664BF" ma:contentTypeVersion="0" ma:contentTypeDescription="Crear nuevo documento." ma:contentTypeScope="" ma:versionID="c523f0e6090e9a8602e566857a797d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B4B781-5F89-4152-B60C-D335CA9790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1CFCC4-BA54-4FB0-A25A-7D810AEDDD3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7937691-7F07-4C10-8DDE-10C6C34492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6111</Words>
  <Application>Microsoft Office PowerPoint</Application>
  <PresentationFormat>Panorámica</PresentationFormat>
  <Paragraphs>632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(cuerpo)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TecNM / Instituto Tecnológico de Morelia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para Proyectos de Software</dc:title>
  <dc:subject>PptxGenJS Presentation</dc:subject>
  <dc:creator>Dr. Claudio Ernesto Florián Arenas</dc:creator>
  <cp:lastModifiedBy>RAFAEL PIEDRA SANCHEZ</cp:lastModifiedBy>
  <cp:revision>8</cp:revision>
  <dcterms:created xsi:type="dcterms:W3CDTF">2026-09-14T15:51:31Z</dcterms:created>
  <dcterms:modified xsi:type="dcterms:W3CDTF">2026-09-16T20:26:26Z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0x010100561061D368890844BCDF55F45CE664BF</vt:lpwstr>
  </property>
</Properties>
</file>
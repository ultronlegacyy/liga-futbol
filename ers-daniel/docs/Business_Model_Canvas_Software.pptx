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9252A-7F25-5F2E-5185-1055F578F809}" v="513" dt="2026-09-17T14:50:19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TE JARENI SERRATO ESPINO" userId="S::l24120368@morelia.tecnm.mx::d408882a-bbce-493a-897c-7765375fb972" providerId="AD" clId="Web-{11A9252A-7F25-5F2E-5185-1055F578F809}"/>
    <pc:docChg chg="modSld">
      <pc:chgData name="NICKTE JARENI SERRATO ESPINO" userId="S::l24120368@morelia.tecnm.mx::d408882a-bbce-493a-897c-7765375fb972" providerId="AD" clId="Web-{11A9252A-7F25-5F2E-5185-1055F578F809}" dt="2026-09-17T14:50:19.898" v="493"/>
      <pc:docMkLst>
        <pc:docMk/>
      </pc:docMkLst>
      <pc:sldChg chg="addSp delSp modSp">
        <pc:chgData name="NICKTE JARENI SERRATO ESPINO" userId="S::l24120368@morelia.tecnm.mx::d408882a-bbce-493a-897c-7765375fb972" providerId="AD" clId="Web-{11A9252A-7F25-5F2E-5185-1055F578F809}" dt="2026-09-17T14:50:19.898" v="493"/>
        <pc:sldMkLst>
          <pc:docMk/>
          <pc:sldMk cId="0" sldId="278"/>
        </pc:sldMkLst>
        <pc:spChg chg="mod">
          <ac:chgData name="NICKTE JARENI SERRATO ESPINO" userId="S::l24120368@morelia.tecnm.mx::d408882a-bbce-493a-897c-7765375fb972" providerId="AD" clId="Web-{11A9252A-7F25-5F2E-5185-1055F578F809}" dt="2026-09-17T14:44:25.571" v="380" actId="20577"/>
          <ac:spMkLst>
            <pc:docMk/>
            <pc:sldMk cId="0" sldId="278"/>
            <ac:spMk id="4" creationId="{00000000-0000-0000-0000-000000000000}"/>
          </ac:spMkLst>
        </pc:spChg>
        <pc:spChg chg="mod">
          <ac:chgData name="NICKTE JARENI SERRATO ESPINO" userId="S::l24120368@morelia.tecnm.mx::d408882a-bbce-493a-897c-7765375fb972" providerId="AD" clId="Web-{11A9252A-7F25-5F2E-5185-1055F578F809}" dt="2026-09-17T14:44:15.477" v="368" actId="20577"/>
          <ac:spMkLst>
            <pc:docMk/>
            <pc:sldMk cId="0" sldId="278"/>
            <ac:spMk id="5" creationId="{00000000-0000-0000-0000-000000000000}"/>
          </ac:spMkLst>
        </pc:spChg>
        <pc:spChg chg="mod">
          <ac:chgData name="NICKTE JARENI SERRATO ESPINO" userId="S::l24120368@morelia.tecnm.mx::d408882a-bbce-493a-897c-7765375fb972" providerId="AD" clId="Web-{11A9252A-7F25-5F2E-5185-1055F578F809}" dt="2026-09-17T14:44:55.088" v="410" actId="20577"/>
          <ac:spMkLst>
            <pc:docMk/>
            <pc:sldMk cId="0" sldId="278"/>
            <ac:spMk id="8" creationId="{00000000-0000-0000-0000-000000000000}"/>
          </ac:spMkLst>
        </pc:spChg>
        <pc:spChg chg="mod">
          <ac:chgData name="NICKTE JARENI SERRATO ESPINO" userId="S::l24120368@morelia.tecnm.mx::d408882a-bbce-493a-897c-7765375fb972" providerId="AD" clId="Web-{11A9252A-7F25-5F2E-5185-1055F578F809}" dt="2026-09-17T14:44:59.869" v="415" actId="20577"/>
          <ac:spMkLst>
            <pc:docMk/>
            <pc:sldMk cId="0" sldId="278"/>
            <ac:spMk id="11" creationId="{00000000-0000-0000-0000-000000000000}"/>
          </ac:spMkLst>
        </pc:spChg>
        <pc:spChg chg="del mod">
          <ac:chgData name="NICKTE JARENI SERRATO ESPINO" userId="S::l24120368@morelia.tecnm.mx::d408882a-bbce-493a-897c-7765375fb972" providerId="AD" clId="Web-{11A9252A-7F25-5F2E-5185-1055F578F809}" dt="2026-09-17T14:49:23.646" v="48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NICKTE JARENI SERRATO ESPINO" userId="S::l24120368@morelia.tecnm.mx::d408882a-bbce-493a-897c-7765375fb972" providerId="AD" clId="Web-{11A9252A-7F25-5F2E-5185-1055F578F809}" dt="2026-09-17T14:46:49.061" v="446" actId="20577"/>
          <ac:spMkLst>
            <pc:docMk/>
            <pc:sldMk cId="0" sldId="278"/>
            <ac:spMk id="17" creationId="{00000000-0000-0000-0000-000000000000}"/>
          </ac:spMkLst>
        </pc:spChg>
        <pc:spChg chg="add del mod">
          <ac:chgData name="NICKTE JARENI SERRATO ESPINO" userId="S::l24120368@morelia.tecnm.mx::d408882a-bbce-493a-897c-7765375fb972" providerId="AD" clId="Web-{11A9252A-7F25-5F2E-5185-1055F578F809}" dt="2026-09-17T14:49:03.739" v="475" actId="20577"/>
          <ac:spMkLst>
            <pc:docMk/>
            <pc:sldMk cId="0" sldId="278"/>
            <ac:spMk id="20" creationId="{00000000-0000-0000-0000-000000000000}"/>
          </ac:spMkLst>
        </pc:spChg>
        <pc:spChg chg="mod">
          <ac:chgData name="NICKTE JARENI SERRATO ESPINO" userId="S::l24120368@morelia.tecnm.mx::d408882a-bbce-493a-897c-7765375fb972" providerId="AD" clId="Web-{11A9252A-7F25-5F2E-5185-1055F578F809}" dt="2026-09-17T14:43:08.287" v="334" actId="20577"/>
          <ac:spMkLst>
            <pc:docMk/>
            <pc:sldMk cId="0" sldId="278"/>
            <ac:spMk id="23" creationId="{00000000-0000-0000-0000-000000000000}"/>
          </ac:spMkLst>
        </pc:spChg>
        <pc:spChg chg="add del mod">
          <ac:chgData name="NICKTE JARENI SERRATO ESPINO" userId="S::l24120368@morelia.tecnm.mx::d408882a-bbce-493a-897c-7765375fb972" providerId="AD" clId="Web-{11A9252A-7F25-5F2E-5185-1055F578F809}" dt="2026-09-17T14:50:19.898" v="493"/>
          <ac:spMkLst>
            <pc:docMk/>
            <pc:sldMk cId="0" sldId="278"/>
            <ac:spMk id="24" creationId="{985E1A8F-6725-7FD3-6866-8CDB689DF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5D134-074B-4637-A091-47395FF04ABF}" type="datetimeFigureOut">
              <a:t>9/17/2026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7861F-6088-41F8-9518-25189C8A7891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556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Presentación en dos partes: la primera explica el modelo (diapositivas 2-22) y la segunda es la plantilla que cada equipo llena y entrega (diapositivas 23-25). Duración estimada de la exposición: 90-110 minutos con ejercicio en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Aclarar desde el inicio que el entregable son dos archivos: el Excel con el cuestionario contestado y la plantilla del PowerPoint llena.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Insistir: el Canvas no sustituye la ingeniería de requisitos, la alimenta. Cada bloque del lienzo aterriza en una decisión técnica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Recalcar la idea de hipótesis: el Canvas no es un documento de verdades, es un tablero de apuestas que deben validarse.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posición no es decorativa: la mitad izquierda responde a la eficiencia interna y la derecha al valor percibido por el cliente. La propuesta de valor es la bisagra entre ambas.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Pedir que llenen en ese orden en el Excel: la hoja Cuestionario ya está ordenada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1 — Segmentos de clientes. Las preguntas guía de esta diapositiva corresponden a la sección 1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2 — Propuesta de valor. Las preguntas guía de esta diapositiva corresponden a la sección 2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3 — Canales. Las preguntas guía de esta diapositiva corresponden a la sección 3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4 — Relación con clientes. Las preguntas guía de esta diapositiva corresponden a la sección 4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5 — Fuentes de ingresos. Las preguntas guía de esta diapositiva corresponden a la sección 5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6 — Recursos clave. Las preguntas guía de esta diapositiva corresponden a la sección 6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7 — Actividades clave. Las preguntas guía de esta diapositiva corresponden a la sección 7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8 — Socios clave. Las preguntas guía de esta diapositiva corresponden a la sección 8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Bloque 9 — Estructura de costos. Las preguntas guía de esta diapositiva corresponden a la sección 9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Pedir a cada equipo que elija uno principal y a lo sumo uno secundario, y que lo capture en la hoja «Monetización» del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 cifras son ilustrativas. Lo importante es que el equipo entienda que todo número declarado debe poder explicarse.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Ejercicio en clase: pedir a los equipos que señalen una incoherencia o un supuesto no validado en este lienzo. Siempre hay varios.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Cada uno de estos errores corresponde a un criterio de evaluación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Esta lista está replicada en la hoja «Checklist» del Excel, con semáforo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PLANTILLA: sustituye todos los textos en gris por el contenido de tu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PLANTILLA: cada ficha se responde en tres o cuatro líneas. Si no cabe, el equipo todavía no tiene clara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B265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2B265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05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480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480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convertir una propuesta de proyecto de software en un modelo de negocio explicable, coherente y defendible.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777240" y="4617720"/>
            <a:ext cx="822960" cy="3200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892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clase + plantilla de entrega para equipos</a:t>
            </a:r>
            <a:endParaRPr lang="en-US" sz="1300"/>
          </a:p>
          <a:p>
            <a:pPr marL="0" indent="0">
              <a:buNone/>
            </a:pPr>
            <a:r>
              <a:rPr lang="en-US" sz="120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Claudio Ernesto Florián Arenas  ·  Instituto Tecnológico de Morelia  ·  TecNM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 este material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presentación sirve para la clase y para la entrega del equipo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74520"/>
            <a:ext cx="658368" cy="65836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758952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 el modelo</a:t>
            </a:r>
            <a:endParaRPr lang="en-US" sz="1700"/>
          </a:p>
        </p:txBody>
      </p:sp>
      <p:sp>
        <p:nvSpPr>
          <p:cNvPr id="8" name="Text 6"/>
          <p:cNvSpPr txBox="1"/>
          <p:nvPr/>
        </p:nvSpPr>
        <p:spPr>
          <a:xfrm>
            <a:off x="758952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3 a 6: qué es el Canvas, para qué sirve y en qué orden se llena.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3374136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874520"/>
            <a:ext cx="658368" cy="6583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3630168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 los 9 bloques</a:t>
            </a:r>
            <a:endParaRPr lang="en-US" sz="170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7 a 16: cada bloque con definición, enfoque de software, preguntas guía y error común.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245352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1874520"/>
            <a:ext cx="658368" cy="658368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6501384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el caso</a:t>
            </a:r>
            <a:endParaRPr lang="en-US" sz="1700"/>
          </a:p>
        </p:txBody>
      </p:sp>
      <p:sp>
        <p:nvSpPr>
          <p:cNvPr id="18" name="Text 16"/>
          <p:cNvSpPr txBox="1"/>
          <p:nvPr/>
        </p:nvSpPr>
        <p:spPr>
          <a:xfrm>
            <a:off x="6501384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17 a 22: un modelo resuelto, errores frecuentes, validación y guion de exposición.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9116568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874520"/>
            <a:ext cx="658368" cy="658368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937260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Llena tu plantilla</a:t>
            </a:r>
            <a:endParaRPr lang="en-US" sz="1700"/>
          </a:p>
        </p:txBody>
      </p:sp>
      <p:sp>
        <p:nvSpPr>
          <p:cNvPr id="23" name="Text 21"/>
          <p:cNvSpPr txBox="1"/>
          <p:nvPr/>
        </p:nvSpPr>
        <p:spPr>
          <a:xfrm>
            <a:off x="9372600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23 a 25: el equipo escribe aquí su propuesta y entrega este mismo archivo.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02920" y="5138928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DF1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obligatorio:  </a:t>
            </a: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 Excel «Cuestionario Business Model Canvas» contiene las 45 preguntas guía con celdas de captura, un lienzo que se arma solo con tus respuestas, una calculadora de monetización y un semáforo de avance. Llénalo antes de vaciar el contenido en la plantilla de estas diapositivas.</a:t>
            </a:r>
            <a:endParaRPr lang="en-US"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buen software que nadie necesita sigue siendo un fracaso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ingeniero de software debe saber modelar un negocio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F1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número uno de fracaso en startups tecnológicas no es técnica</a:t>
            </a:r>
            <a:endParaRPr lang="en-US" sz="190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construir algo para lo que no existe una necesidad real de mercado. El código funcionaba; el modelo de negocio nunca existió.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CB Insights, «The Top Reasons Startups Fail».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502920" y="3886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Canvas te obliga a decidir antes de escribir la primera línea de código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594360" y="4434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paga, quién usa y quién decide (casi nunca son la misma persona).</a:t>
            </a:r>
            <a:endParaRPr lang="en-US" sz="13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medible resuelve el sistema y contra qué alternativa compite.</a:t>
            </a:r>
            <a:endParaRPr lang="en-US" sz="13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dinero y cuánto cuesta realmente operar y sostener el software.</a:t>
            </a:r>
            <a:endParaRPr lang="en-US" sz="135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requisitos son negociables y cuáles sostienen el modelo completo.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1584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Canvas conecta decisiones técnicas con decisiones de negocio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565392" y="2587752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39712" y="24688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y perfiles de acceso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565392" y="3191256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9712" y="30723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prioritarios y MVP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6565392" y="3794760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39712" y="36758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y relación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soporte, actualizaciones, telemetría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565392" y="4398264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9712" y="427939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cobro, planes, límites de uso, facturación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565392" y="5001768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39712" y="488289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actividades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stack, equipo, proceso de desarrollo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6565392" y="5605272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39712" y="5486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  →  </a:t>
            </a: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infraestructura, escalabilidad y deuda técnica</a:t>
            </a:r>
            <a:endParaRPr lang="en-US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Business Model Canvas?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Osterwalder &amp; Pigneur (2010), «Business Model Generation»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DF1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lienzo de una sola página que describe cómo una organización crea, entrega y captura valor.</a:t>
            </a:r>
            <a:endParaRPr lang="en-US" sz="1700"/>
          </a:p>
        </p:txBody>
      </p:sp>
      <p:sp>
        <p:nvSpPr>
          <p:cNvPr id="6" name="Text 4"/>
          <p:cNvSpPr txBox="1"/>
          <p:nvPr/>
        </p:nvSpPr>
        <p:spPr>
          <a:xfrm>
            <a:off x="502920" y="31546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preguntas, nueve bloques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0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611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QUIÉN?</a:t>
            </a:r>
            <a:endParaRPr lang="en-US" sz="1250"/>
          </a:p>
        </p:txBody>
      </p:sp>
      <p:sp>
        <p:nvSpPr>
          <p:cNvPr id="9" name="Text 7"/>
          <p:cNvSpPr txBox="1"/>
          <p:nvPr/>
        </p:nvSpPr>
        <p:spPr>
          <a:xfrm>
            <a:off x="2057400" y="3611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 · Canales · Relación con clientes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427024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2702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¿QUÉ?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2057400" y="4270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92861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4A47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9286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¿CÓMO?</a:t>
            </a:r>
            <a:endParaRPr lang="en-US" sz="1250"/>
          </a:p>
        </p:txBody>
      </p:sp>
      <p:sp>
        <p:nvSpPr>
          <p:cNvPr id="15" name="Text 13"/>
          <p:cNvSpPr txBox="1"/>
          <p:nvPr/>
        </p:nvSpPr>
        <p:spPr>
          <a:xfrm>
            <a:off x="2057400" y="49286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 · Actividades clave · Socios clave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58698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E8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5869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¿CUÁNTO?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>
          <a:xfrm>
            <a:off x="2057400" y="55869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 · Estructura de costos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193792" cy="4663440"/>
          </a:xfrm>
          <a:prstGeom prst="roundRect">
            <a:avLst>
              <a:gd name="adj" fmla="val 1569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 sirve en tu proyecto</a:t>
            </a:r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6858000" y="224028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explicar el proyecto completo en una sola página, sin refugiarse en tecnicismos.</a:t>
            </a:r>
            <a:endParaRPr lang="en-US" sz="135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visibles los supuestos: lo que escribes en una nota adhesiva es una hipótesis, no un hecho.</a:t>
            </a:r>
            <a:endParaRPr lang="en-US" sz="135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incoherencias: una propuesta de valor sin canal, o costos que no corresponden a los recursos declarados.</a:t>
            </a:r>
            <a:endParaRPr lang="en-US" sz="135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comparar alternativas: dos modelos distintos para el mismo software se ven lado a lado.</a:t>
            </a:r>
            <a:endParaRPr lang="en-US" sz="135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lenguaje común con inversionistas, jurados de concurso, directivos y clientes.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lienzo: los nueve bloques y su posición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84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804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/>
          </a:p>
        </p:txBody>
      </p:sp>
      <p:sp>
        <p:nvSpPr>
          <p:cNvPr id="7" name="Text 5"/>
          <p:cNvSpPr txBox="1"/>
          <p:nvPr/>
        </p:nvSpPr>
        <p:spPr>
          <a:xfrm>
            <a:off x="493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nos ayuda: proveedores, APIs de terceros, distribuidores, aliados que reducen riesgo o costo.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2670048" y="1188720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3090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2779776" y="1645920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hacemos: desarrollo, operación, seguridad, venta, soporte, implementación.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670048" y="2976372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306781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61488" y="3067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3090672" y="30586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2779776" y="3433572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necesitamos: personas, infraestructura, datos, propiedad intelectual, capital.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956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FDF1DC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28016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47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5376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5065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ofrecemos y por qué el cliente lo prefiere sobre su alternativa actual.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corazón del lienzo: todo lo demás existe para sostenerlo.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242048" y="1188720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7662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7351776" y="1645920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interactuamos: autoservicio, acompañamiento, comunidad, éxito del cliente.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7242048" y="2976372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306781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33488" y="3067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31" name="Text 29"/>
          <p:cNvSpPr txBox="1"/>
          <p:nvPr/>
        </p:nvSpPr>
        <p:spPr>
          <a:xfrm>
            <a:off x="7662672" y="30586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/>
          </a:p>
        </p:txBody>
      </p:sp>
      <p:sp>
        <p:nvSpPr>
          <p:cNvPr id="32" name="Text 30"/>
          <p:cNvSpPr txBox="1"/>
          <p:nvPr/>
        </p:nvSpPr>
        <p:spPr>
          <a:xfrm>
            <a:off x="7351776" y="3433572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llegamos: descubrimiento, prueba, venta, entrega, soporte.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9528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9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19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36" name="Text 34"/>
          <p:cNvSpPr txBox="1"/>
          <p:nvPr/>
        </p:nvSpPr>
        <p:spPr>
          <a:xfrm>
            <a:off x="9948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/>
          </a:p>
        </p:txBody>
      </p:sp>
      <p:sp>
        <p:nvSpPr>
          <p:cNvPr id="37" name="Text 35"/>
          <p:cNvSpPr txBox="1"/>
          <p:nvPr/>
        </p:nvSpPr>
        <p:spPr>
          <a:xfrm>
            <a:off x="9637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creamos valor: usuario, cliente que paga y quien decide la compra.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segmento es «todos», el modelo no está definido.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84048" y="4782312"/>
            <a:ext cx="4517136" cy="1115568"/>
          </a:xfrm>
          <a:prstGeom prst="roundRect">
            <a:avLst>
              <a:gd name="adj" fmla="val 409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487375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41" name="Text 39"/>
          <p:cNvSpPr txBox="1"/>
          <p:nvPr/>
        </p:nvSpPr>
        <p:spPr>
          <a:xfrm>
            <a:off x="804672" y="48646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/>
          </a:p>
        </p:txBody>
      </p:sp>
      <p:sp>
        <p:nvSpPr>
          <p:cNvPr id="42" name="Text 40"/>
          <p:cNvSpPr txBox="1"/>
          <p:nvPr/>
        </p:nvSpPr>
        <p:spPr>
          <a:xfrm>
            <a:off x="493776" y="5239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gastamos para sostener recursos, actividades y socios. Fijos y variables.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4956048" y="4782312"/>
            <a:ext cx="6803136" cy="1115568"/>
          </a:xfrm>
          <a:prstGeom prst="roundRect">
            <a:avLst>
              <a:gd name="adj" fmla="val 409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7488" y="487375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47488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6" name="Text 44"/>
          <p:cNvSpPr txBox="1"/>
          <p:nvPr/>
        </p:nvSpPr>
        <p:spPr>
          <a:xfrm>
            <a:off x="5376672" y="486460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/>
          </a:p>
        </p:txBody>
      </p:sp>
      <p:sp>
        <p:nvSpPr>
          <p:cNvPr id="47" name="Text 45"/>
          <p:cNvSpPr txBox="1"/>
          <p:nvPr/>
        </p:nvSpPr>
        <p:spPr>
          <a:xfrm>
            <a:off x="5065776" y="52395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dinero desde cada segmento: suscripción, licencia, uso, comisión, servicios.</a:t>
            </a:r>
            <a:endParaRPr lang="en-US" sz="1050"/>
          </a:p>
        </p:txBody>
      </p:sp>
      <p:sp>
        <p:nvSpPr>
          <p:cNvPr id="48" name="Text 46"/>
          <p:cNvSpPr txBox="1"/>
          <p:nvPr/>
        </p:nvSpPr>
        <p:spPr>
          <a:xfrm>
            <a:off x="384048" y="61447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= eficiencia (cómo se produce el valor)          ·          Centro = la propuesta de valor          ·          Derecha = valor para el cliente (cómo se entrega)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orden se llena?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del bloque no es el orden de llenado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92224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 txBox="1"/>
          <p:nvPr/>
        </p:nvSpPr>
        <p:spPr>
          <a:xfrm>
            <a:off x="1280160" y="170992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empieza por saber a quién sirves.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2734056"/>
            <a:ext cx="438912" cy="43891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1" name="Text 9"/>
          <p:cNvSpPr txBox="1"/>
          <p:nvPr/>
        </p:nvSpPr>
        <p:spPr>
          <a:xfrm>
            <a:off x="1280160" y="26517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de ese segmento resuelves.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" y="3675888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1280160" y="35935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 tu propuesta hasta el cliente.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02920" y="4425696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4617720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1280160" y="45354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conservas después de la venta.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02920" y="5367528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" y="5559552"/>
            <a:ext cx="438912" cy="43891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5559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3" name="Text 21"/>
          <p:cNvSpPr txBox="1"/>
          <p:nvPr/>
        </p:nvSpPr>
        <p:spPr>
          <a:xfrm>
            <a:off x="1280160" y="547725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valor está dispuesto a pagar.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0528" y="1792224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0528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/>
          </a:p>
        </p:txBody>
      </p:sp>
      <p:sp>
        <p:nvSpPr>
          <p:cNvPr id="27" name="Text 25"/>
          <p:cNvSpPr txBox="1"/>
          <p:nvPr/>
        </p:nvSpPr>
        <p:spPr>
          <a:xfrm>
            <a:off x="7086600" y="170992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necesitas para entregar todo lo anterior.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6309360" y="2542032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0528" y="2734056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0528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/>
          </a:p>
        </p:txBody>
      </p:sp>
      <p:sp>
        <p:nvSpPr>
          <p:cNvPr id="31" name="Text 29"/>
          <p:cNvSpPr txBox="1"/>
          <p:nvPr/>
        </p:nvSpPr>
        <p:spPr>
          <a:xfrm>
            <a:off x="7086600" y="26517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que hacer de forma sostenida.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6309360" y="3483864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10528" y="3675888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10528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/>
          </a:p>
        </p:txBody>
      </p:sp>
      <p:sp>
        <p:nvSpPr>
          <p:cNvPr id="35" name="Text 33"/>
          <p:cNvSpPr txBox="1"/>
          <p:nvPr/>
        </p:nvSpPr>
        <p:spPr>
          <a:xfrm>
            <a:off x="7086600" y="35935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haces tú y quién lo hace por ti.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309360" y="4425696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0528" y="4617720"/>
            <a:ext cx="438912" cy="43891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052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/>
          </a:p>
        </p:txBody>
      </p:sp>
      <p:sp>
        <p:nvSpPr>
          <p:cNvPr id="39" name="Text 37"/>
          <p:cNvSpPr txBox="1"/>
          <p:nvPr/>
        </p:nvSpPr>
        <p:spPr>
          <a:xfrm>
            <a:off x="7086600" y="45354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sostener el modelo completo.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6309360" y="54864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DF1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92240" y="55595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cambias el segmento de clientes, vuelve a revisar los nueve bloques. Ningún bloque es independiente.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de clientes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distintos de personas u organizaciones a los que el software sirve. Cada segmento tiene un problema, un lenguaje y una disposición a pagar diferentes.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tres papeles: quién usa el sistema, quién paga la licencia y quién autoriza la compra.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arquetipos (personas) con su contexto técnico real: dispositivos, conectividad, nivel digital.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mercado de nicho o masivo, y si es B2B, B2C, B2G o multilateral (plataforma de dos lados).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segmento de entrada (beachhead): el que más sufre el problema y es más fácil de alcanzar.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mecánicos independientes de 3 a 10 empleados en ciudades medias del Bajío. Usuario diario: jefe de taller. Quien paga y decide: el dueño.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creamos valor, en una frase?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usa el software a diario y quién firma el pago?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segmento sufre el problema con más intensidad y frecuencia?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son, dónde están y cómo los contactamos?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segmento arrancamos y cuál dejamos para después?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que el mercado es «cualquier persona con un teléfono». Un segmento que no se puede describir, contar ni contactar no es un segmento.</a:t>
            </a:r>
            <a:endParaRPr lang="en-US"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OFERTA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productos y servicios que resuelven un problema o satisfacen una necesidad del segmento. Es la razón por la que el cliente te elige a ti y no a su alternativa actual.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Formúlala como resultado medible para el cliente, no como lista de funcionalidades.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 alternativa real que hoy usa: Excel, papel, WhatsApp, otro sistema o no hacer nada.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palanca de valor: automatización, desempeño, personalización, accesibilidad, precio o reducción de riesgo.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explícitamente qué NO hace el producto; el alcance también es propuesta de valor.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«Reduce de 3 horas a 20 minutos diarios el control de órdenes de servicio y elimina las refacciones que hoy se instalan sin cobrarse.»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FDF1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específico resolvemos y para quién?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hoy el cliente sin nosotros y qué le cuesta?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de forma medible: tiempo, dinero, errores evitados, cumplimiento?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nosotros y no la alternativa que ya tiene?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queda fuera del alcance de la primera versión?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un catálogo de módulos y pantallas. Las funcionalidades son el medio; el valor es el cambio que produce en el trabajo del cliente.</a:t>
            </a:r>
            <a:endParaRPr lang="en-US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empresa se comunica con sus segmentos y les entrega la propuesta de valor. Abarca desde que el cliente se entera de que existes hasta la posventa.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las cinco fases: conocimiento, evaluación, compra, entrega y posventa.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canal de prueba: demo guiada, versión de prueba, sandbox o entorno de evaluación.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canal de entrega técnica: web, tienda de aplicaciones, instalación en sitio o nube privada.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canales propios (sitio, equipo de venta) de canales de socios (distribuidores, integradores).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 distribuidores de refacciones (socio) · demo guiada de 15 minutos · alta en línea · aplicación web instalable · soporte por WhatsApp y videollamada.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entera el cliente de que existimos?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puede probar el producto antes de pagar?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contrata, lo instala y lo empieza a usar?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recibe soporte, capacitación y actualizaciones?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canal es el más barato por cliente adquirido?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Suponer que publicar en una tienda de aplicaciones equivale a tener un canal de distribución. Publicar no es distribuir.</a:t>
            </a:r>
            <a:endParaRPr lang="en-US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clientes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relación que se establece con cada segmento, desde la captación hasta la fidelización. Determina buena parte del costo de operación y de la permanencia del cliente.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modo: autoservicio, asistencia personal, comunidad, éxito del cliente o cocreación.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el arranque (onboarding): los primeros siete días definen si el cliente se queda.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mides y reduces el abandono (churn) y cómo detectas al cliente en riesgo.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se automatiza (correos, tutoriales, base de conocimiento) y qué exige una persona.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mes: acompañamiento en sitio de una hora y migración de datos. Después: autoservicio con base de conocimiento, más soporte por WhatsApp en horario hábil.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relación espera cada segmento y cuál está dispuesto a pagar?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acompañamos al cliente en sus primeros días de uso?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para que no nos abandone y cómo lo detectamos a tiempo?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de la relación se automatiza y cuál es humana?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al mes sostener esa relación por cliente?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con detalle la adquisición y olvidar la retención. En un modelo de suscripción, retener cuesta mucho menos que volver a vender.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ingresos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2E8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que la empresa genera en cada segmento. Responde por qué valor paga realmente el cliente, cómo paga y cuánto aporta cada fuente al total.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mecanismo: suscripción, licencia, pago por uso, freemium, comisión, publicidad o servicios.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el precio por el valor entregado y por lo que hoy le cuesta el problema, no por tus horas.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unidad de cobro: por usuario, por sucursal, por transacción, por volumen de datos.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momento del flujo: cuándo cobras frente a cuándo gastas en desarrollo e infraestructura.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de $899 al mes por taller con hasta cinco usuarios · implementación inicial de $2,500 por única vez · 2% de comisión en compras de refacciones hechas dentro de la aplicación.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3F1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valor concreto está dispuesto a pagar el cliente?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gasta hoy en resolver ese problema por otros medios?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cobramos: mensual, anual, por uso, único, por comisión?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precio, cómo lo justificamos y qué planes ofrecemos?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porcentaje del ingreso total aporta cada fuente?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precio sumando el costo de desarrollo más un margen. El cliente no paga tu esfuerzo, paga el resultado que obtiene.</a:t>
            </a:r>
            <a:endParaRPr lang="en-US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clave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activos imprescindibles para que el modelo funcione: sin ellos, la propuesta de valor no puede entregarse. Pueden ser humanos, tecnológicos, intelectuales o financieros.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Humanos: perfiles y nivel de experiencia reales que exige el stack elegido.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Tecnológicos: infraestructura en la nube, entornos, repositorios, canalizaciones de integración continua.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Intelectuales: código propietario, marca, algoritmos, conjuntos de datos, licencias de terceros.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qué datos necesitas, de dónde salen y bajo qué base legal los tratas.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desarrolladores de tiempo completo · un diseñador de experiencia a medio tiempo · infraestructura en la nube (~120 USD al mes) · catálogo de refacciones licenciado · base de datos de precios propia.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perfiles técnicos necesita el equipo y con qué dedicación?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infraestructura requiere el sistema y cuánto cuesta al mes?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necesitamos, cómo los obtenemos y cómo los protegemos?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activo es difícil de copiar por un competidor?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licencias o servicios de terceros dependemos de forma crítica?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Enlistar «computadoras e internet» y omitir el costo real de la nube, las licencias y el tiempo de las personas.</a:t>
            </a:r>
            <a:endParaRPr lang="en-US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 clave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más importantes que la organización debe realizar de forma sostenida para que el modelo funcione. No son tareas puntuales, son procesos permanentes.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mantenimiento: proceso, cadencia de entregas, gestión de deuda técnica.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la plataforma: despliegue, monitoreo, respaldos, disponibilidad, incidentes.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cumplimiento: protección de datos personales, auditoría, control de accesos.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posventa: venta, implementación, migración de datos, capacitación y soporte.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de dos semanas · migración de datos históricos de cada cliente nuevo · monitoreo continuo y respaldos diarios · capacitación presencial en la puesta en marcha.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debemos hacer cada semana para que el modelo funcione?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actividades sostienen directamente la propuesta de valor?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internamente y qué conviene contratar fuera?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aseguramos calidad, seguridad y disponibilidad del servicio?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proceso de desarrollo usaremos y por qué se ajusta a este modelo?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las actividades clave a «programar». Vender, implementar, operar y dar soporte suelen consumir más esfuerzo que escribir código.</a:t>
            </a:r>
            <a:endParaRPr lang="en-US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Socios clave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 proveedores y aliados que hacen que el modelo funcione. Se busca con ellos optimizar costos, reducir riesgo o adquirir recursos y clientes que no se tienen.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 infraestructura y servicios administrados en la nube.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programación de terceros: pagos, mensajería, mapas, identidad, facturación electrónica.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de distribución: integradores, distribuidores regionales, cámaras y asociaciones del sector.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Ecosistema: comunidad de código abierto, incubadoras, universidades, programas de gobierno.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· proveedor de mensajería para notificaciones · distribuidores regionales de refacciones como canal de venta · incubadora del TecNM para acompañamiento.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provee lo que hemos decidido no construir?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servicios de terceros son críticos y qué ocurre si fallan o suben de precio?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da acceso rápido a clientes que no alcanzaríamos solos?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alianza reduce nuestro riesgo técnico, legal o financiero?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aportamos nosotros en cada alianza y bajo qué condiciones?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un servicio externo crítico sin plan alterno y sin haber leído sus condiciones de uso, límites de consumo ni política de precios.</a:t>
            </a:r>
            <a:endParaRPr lang="en-US" sz="1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costos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2E8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costos en que se incurre para operar el modelo. Se derivan directamente de los recursos, las actividades y los socios que ya declaraste.</a:t>
            </a:r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costos fijos (nómina, infraestructura base, licencias) de variables (consumo por usuario, comisiones, soporte).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la inversión inicial de desarrollo del costo mensual de operación.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cuánto cuesta atender a un cliente adicional: ahí se decide si el modelo escala.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el costo de adquirir un cliente y compáralo con lo que ese cliente deja en toda la relación.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del equipo · infraestructura en la nube · comisión de la pasarela (3%) · costo de adquisición estimado de $1,800 por taller · punto de equilibrio en 101 talleres activos.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3F1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cinco costos más grandes del modelo?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costos crecen con cada cliente o usuario nuevo?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nos cuesta conseguir un cliente y cuánto atenderlo al mes?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modelo se rige por costos o por valor?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necesitamos para llegar al punto de equilibrio?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solo el costo de desarrollo y omitir infraestructura, soporte, comisiones y el costo de adquirir cada cliente.</a:t>
            </a:r>
            <a:endParaRPr lang="en-US" sz="1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cobra el software: modelos de monetización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para el bloque 5 — Fuentes de ingresos</a:t>
            </a:r>
            <a:endParaRPr lang="en-US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4437888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cobra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conviene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principal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(SaaS)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recurrente por usuario o por cuenta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valor se entrega de forma continua y el uso es frecuente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Abandono mensual (churn)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gratuita + funciones de pago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masivo con crecimiento por recomendación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Sostener a quienes nunca pagarán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perpetua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único más mantenimiento anual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corporativos o de gobierno con compra por proyecto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no recurrente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por uso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transacción, llamada a la API o volumen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consumo varía mucho entre clientes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difícil de predecir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Comisión (marketplace)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 de cada transacción intermediada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plataforma conecta oferta y demanda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Arranque en frío de los dos lados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Publicidad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Impresiones, clics o patrocinios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volumen de usuarios sin disposición a pagar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escala muy alta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abierto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libre + edición empresarial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técnico con comunidad activa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Competir contra tu propia versión gratuita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profesionales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Implementación, integración y capacitación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producto exige adopción y configuración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escala de forma proporcional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536192"/>
            <a:ext cx="11183112" cy="47548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5216" y="15361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50"/>
          </a:p>
        </p:txBody>
      </p:sp>
      <p:sp>
        <p:nvSpPr>
          <p:cNvPr id="7" name="Text 4"/>
          <p:cNvSpPr txBox="1"/>
          <p:nvPr/>
        </p:nvSpPr>
        <p:spPr>
          <a:xfrm>
            <a:off x="3008376" y="15361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cobra</a:t>
            </a:r>
            <a:endParaRPr lang="en-US" sz="1150"/>
          </a:p>
        </p:txBody>
      </p:sp>
      <p:sp>
        <p:nvSpPr>
          <p:cNvPr id="8" name="Text 5"/>
          <p:cNvSpPr txBox="1"/>
          <p:nvPr/>
        </p:nvSpPr>
        <p:spPr>
          <a:xfrm>
            <a:off x="6025896" y="15361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150"/>
          </a:p>
        </p:txBody>
      </p:sp>
      <p:sp>
        <p:nvSpPr>
          <p:cNvPr id="9" name="Text 6"/>
          <p:cNvSpPr txBox="1"/>
          <p:nvPr/>
        </p:nvSpPr>
        <p:spPr>
          <a:xfrm>
            <a:off x="9226296" y="15361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</a:t>
            </a:r>
            <a:endParaRPr lang="en-US" sz="1150"/>
          </a:p>
        </p:txBody>
      </p:sp>
      <p:sp>
        <p:nvSpPr>
          <p:cNvPr id="10" name="Text 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combinar modelos, pero justifica cada uno: qué segmento lo paga, qué valor cubre y qué porcentaje del ingreso representa.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ejemplo: TallerPro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resuelto para comparar con el de tu equipo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F1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observado</a:t>
            </a:r>
            <a:endParaRPr lang="en-US" sz="160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D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talleres mecánicos pequeños las órdenes de servicio se llevan en libretas y WhatsApp. El dueño no sabe cuánto ganó por orden, se instalan refacciones que nunca se cobran y el cliente final no recibe información del avance de su vehículo.</a:t>
            </a:r>
            <a:endParaRPr lang="en-US" sz="1350"/>
          </a:p>
        </p:txBody>
      </p:sp>
      <p:sp>
        <p:nvSpPr>
          <p:cNvPr id="7" name="Text 5"/>
          <p:cNvSpPr txBox="1"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propuesta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502920" y="4297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instalable para registrar órdenes de servicio, controlar refacciones e inventario, calcular la utilidad por orden y notificar automáticamente al cliente final por mensajería el avance de su reparación.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02920" y="548640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DF1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555955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caso es ficticio y sirve como referencia de nivel de detalle esperado, no como respuesta modelo a copiar.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76672" cy="4681728"/>
          </a:xfrm>
          <a:prstGeom prst="roundRect">
            <a:avLst>
              <a:gd name="adj" fmla="val 1563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Cifras que sostienen el modelo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65836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$899</a:t>
            </a:r>
            <a:endParaRPr 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8412480" y="22585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por taller (plan base, 5 usuarios)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4A4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$1,800</a:t>
            </a:r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8412480" y="314553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de adquirir un taller (CAC)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6583680" y="4014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2E8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$16,487</a:t>
            </a:r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8412480" y="403250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estimado del cliente en 18 meses (LTV)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6583680" y="49011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800"/>
          </a:p>
        </p:txBody>
      </p:sp>
      <p:sp>
        <p:nvSpPr>
          <p:cNvPr id="20" name="Text 18"/>
          <p:cNvSpPr txBox="1"/>
          <p:nvPr/>
        </p:nvSpPr>
        <p:spPr>
          <a:xfrm>
            <a:off x="8412480" y="49194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activos necesarios para el punto de equilibrio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6583680" y="57424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LTV/CAC ≈ 9:1. Una relación menor a 3:1 obliga a revisar precio, retención o canal.</a:t>
            </a:r>
            <a:endParaRPr lang="en-US"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TallerPro: el lienzo completo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384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804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/>
          </a:p>
        </p:txBody>
      </p:sp>
      <p:sp>
        <p:nvSpPr>
          <p:cNvPr id="7" name="Text 5"/>
          <p:cNvSpPr txBox="1"/>
          <p:nvPr/>
        </p:nvSpPr>
        <p:spPr>
          <a:xfrm>
            <a:off x="493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Pasarela de pagos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Proveedor de mensajería (notificaciones al cliente final)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Distribuidores regionales de refacciones (canal de venta)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Proveedor de nube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Incubadora del TecNM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670048" y="1188720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3090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2779776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Desarrollo en iteraciones de 2 semanas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Migración de datos del taller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Operación, respaldos y monitoreo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Venta en campo y capacitación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670048" y="3044952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313639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6148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3090672" y="31272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2779776" y="350215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desarrolladores full-stack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diseñador UX medio tiempo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Infraestructura en la nube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refacciones licenciado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956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FDF1DC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28016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47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5376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5065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orden de servicio en una sola pantalla.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3 h a 20 min diarios de control administrativo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Cero refacciones instaladas sin cobrar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Utilidad real por orden, visible al cierre del día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cliente final recibe avisos del avance sin llamar al taller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incluye: facturación electrónica ni contabilidad (se integra con terceros).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242048" y="1188720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7662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7351776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Implementación acompañada el primer mes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Después, autoservicio con base de conocimiento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Soporte por mensajería en horario hábil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7242048" y="3044952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313639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3348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31" name="Text 29"/>
          <p:cNvSpPr txBox="1"/>
          <p:nvPr/>
        </p:nvSpPr>
        <p:spPr>
          <a:xfrm>
            <a:off x="7662672" y="31272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/>
          </a:p>
        </p:txBody>
      </p:sp>
      <p:sp>
        <p:nvSpPr>
          <p:cNvPr id="32" name="Text 30"/>
          <p:cNvSpPr txBox="1"/>
          <p:nvPr/>
        </p:nvSpPr>
        <p:spPr>
          <a:xfrm>
            <a:off x="7351776" y="350215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Distribuidores de refacciones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guiada de 15 min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y contratación en línea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web instalable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528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9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19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36" name="Text 34"/>
          <p:cNvSpPr txBox="1"/>
          <p:nvPr/>
        </p:nvSpPr>
        <p:spPr>
          <a:xfrm>
            <a:off x="9948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/>
          </a:p>
        </p:txBody>
      </p:sp>
      <p:sp>
        <p:nvSpPr>
          <p:cNvPr id="37" name="Text 35"/>
          <p:cNvSpPr txBox="1"/>
          <p:nvPr/>
        </p:nvSpPr>
        <p:spPr>
          <a:xfrm>
            <a:off x="9637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mecánicos independientes de 3 a 10 empleados, en ciudades medias del Bajío.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Usuario: jefe de taller y mecánicos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Paga y decide: el dueño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Beneficiario indirecto: el cliente final del taller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talleres ya digitalizados en cobro con terminal.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84048" y="4919472"/>
            <a:ext cx="4517136" cy="1207008"/>
          </a:xfrm>
          <a:prstGeom prst="roundRect">
            <a:avLst>
              <a:gd name="adj" fmla="val 378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501091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41" name="Text 39"/>
          <p:cNvSpPr txBox="1"/>
          <p:nvPr/>
        </p:nvSpPr>
        <p:spPr>
          <a:xfrm>
            <a:off x="804672" y="50017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/>
          </a:p>
        </p:txBody>
      </p:sp>
      <p:sp>
        <p:nvSpPr>
          <p:cNvPr id="42" name="Text 40"/>
          <p:cNvSpPr txBox="1"/>
          <p:nvPr/>
        </p:nvSpPr>
        <p:spPr>
          <a:xfrm>
            <a:off x="493776" y="53766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Fijos: nómina del equipo · infraestructura base · licencia del catálogo.   Variables: consumo de nube y mensajería por taller · 3% de comisión de la pasarela · soporte.   Adquisición: $1,800 por taller.   Punto de equilibrio: 101 talleres activos.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956048" y="4919472"/>
            <a:ext cx="6803136" cy="1207008"/>
          </a:xfrm>
          <a:prstGeom prst="roundRect">
            <a:avLst>
              <a:gd name="adj" fmla="val 378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7488" y="501091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47488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6" name="Text 44"/>
          <p:cNvSpPr txBox="1"/>
          <p:nvPr/>
        </p:nvSpPr>
        <p:spPr>
          <a:xfrm>
            <a:off x="5376672" y="500176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/>
          </a:p>
        </p:txBody>
      </p:sp>
      <p:sp>
        <p:nvSpPr>
          <p:cNvPr id="47" name="Text 45"/>
          <p:cNvSpPr txBox="1"/>
          <p:nvPr/>
        </p:nvSpPr>
        <p:spPr>
          <a:xfrm>
            <a:off x="5065776" y="537667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de $899 por taller (hasta 5 usuarios) · Plan ampliado de $1,499 con inventario multialmacén · Implementación inicial de $2,500 por única vez · 2% de comisión sobre compras de refacciones hechas dentro de la aplicación.</a:t>
            </a:r>
            <a:endParaRPr lang="en-US" sz="1000"/>
          </a:p>
        </p:txBody>
      </p:sp>
      <p:sp>
        <p:nvSpPr>
          <p:cNvPr id="48" name="Text 46"/>
          <p:cNvSpPr txBox="1"/>
          <p:nvPr/>
        </p:nvSpPr>
        <p:spPr>
          <a:xfrm>
            <a:off x="384048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la coherencia: cada canal tiene un segmento, cada actividad tiene un recurso que la sostiene y cada costo se deriva de un recurso, actividad o socio ya declarado.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 al presentar el Canvas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esta lista antes de exponer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0195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1280160" y="170078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Enamorarse de la solución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describe el sistema durante diez minutos y el problema del cliente nunca aparece.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90195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11" name="Text 9"/>
          <p:cNvSpPr txBox="1"/>
          <p:nvPr/>
        </p:nvSpPr>
        <p:spPr>
          <a:xfrm>
            <a:off x="7086600" y="170078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«todos»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mercado sin límites es un mercado que no se puede alcanzar ni medir.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9067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15" name="Text 13"/>
          <p:cNvSpPr txBox="1"/>
          <p:nvPr/>
        </p:nvSpPr>
        <p:spPr>
          <a:xfrm>
            <a:off x="1280160" y="288950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disfrazadas de valor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«Tiene panel de control y reportes» no es una propuesta de valor; es una pantalla.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6309360" y="276148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309067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19" name="Text 17"/>
          <p:cNvSpPr txBox="1"/>
          <p:nvPr/>
        </p:nvSpPr>
        <p:spPr>
          <a:xfrm>
            <a:off x="7086600" y="288950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sin origen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 o de precio que nadie puede explicar de dónde salieron.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7939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23" name="Text 21"/>
          <p:cNvSpPr txBox="1"/>
          <p:nvPr/>
        </p:nvSpPr>
        <p:spPr>
          <a:xfrm>
            <a:off x="1280160" y="407822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incompletos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desarrollo y se olvidan nube, soporte, comisiones y adquisición de clientes.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6309360" y="395020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427939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27" name="Text 25"/>
          <p:cNvSpPr txBox="1"/>
          <p:nvPr/>
        </p:nvSpPr>
        <p:spPr>
          <a:xfrm>
            <a:off x="7086600" y="407822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inconexos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canal que no sirve a ningún segmento, o un recurso que ninguna actividad usa.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502920" y="513892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46811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31" name="Text 29"/>
          <p:cNvSpPr txBox="1"/>
          <p:nvPr/>
        </p:nvSpPr>
        <p:spPr>
          <a:xfrm>
            <a:off x="1280160" y="526694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inexistente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tenemos competencia» casi siempre significa que no se buscó o que no hay mercado.</a:t>
            </a:r>
            <a:endParaRPr lang="en-US" sz="1350"/>
          </a:p>
        </p:txBody>
      </p:sp>
      <p:sp>
        <p:nvSpPr>
          <p:cNvPr id="32" name="Shape 30"/>
          <p:cNvSpPr/>
          <p:nvPr/>
        </p:nvSpPr>
        <p:spPr>
          <a:xfrm>
            <a:off x="6309360" y="513892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7960" y="546811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/>
          </a:p>
        </p:txBody>
      </p:sp>
      <p:sp>
        <p:nvSpPr>
          <p:cNvPr id="35" name="Text 33"/>
          <p:cNvSpPr txBox="1"/>
          <p:nvPr/>
        </p:nvSpPr>
        <p:spPr>
          <a:xfrm>
            <a:off x="7086600" y="526694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hipótesis, nada está validado
</a:t>
            </a: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entrevista, ninguna prueba, ningún dato: solo opiniones del equipo.</a:t>
            </a:r>
            <a:endParaRPr lang="en-US" sz="1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mínima antes de exponer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del lienzo es una hipótesis hasta que alguien externo la confirma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37360"/>
            <a:ext cx="2084832" cy="65836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/>
          </a:p>
        </p:txBody>
      </p:sp>
      <p:sp>
        <p:nvSpPr>
          <p:cNvPr id="7" name="Text 5"/>
          <p:cNvSpPr txBox="1"/>
          <p:nvPr/>
        </p:nvSpPr>
        <p:spPr>
          <a:xfrm>
            <a:off x="704088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Entrevistas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704088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8 conversaciones con personas del segmento real. Pregunta por lo que hacen hoy, no por si les gustaría tu idea.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 rot="5400000">
            <a:off x="2606040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10" name="Shape 8"/>
          <p:cNvSpPr/>
          <p:nvPr/>
        </p:nvSpPr>
        <p:spPr>
          <a:xfrm>
            <a:off x="2779776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2779776" y="1737360"/>
            <a:ext cx="2084832" cy="6583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79776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/>
          </a:p>
        </p:txBody>
      </p:sp>
      <p:sp>
        <p:nvSpPr>
          <p:cNvPr id="13" name="Text 11"/>
          <p:cNvSpPr txBox="1"/>
          <p:nvPr/>
        </p:nvSpPr>
        <p:spPr>
          <a:xfrm>
            <a:off x="2980944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la propuesta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2980944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navegable o una página de aterrizaje. Mide si el problema descrito les resulta suyo.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 rot="5400000">
            <a:off x="4882896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6632" y="1737360"/>
            <a:ext cx="2084832" cy="658368"/>
          </a:xfrm>
          <a:prstGeom prst="rect">
            <a:avLst/>
          </a:prstGeom>
          <a:solidFill>
            <a:srgbClr val="4A47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56632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/>
          </a:p>
        </p:txBody>
      </p:sp>
      <p:sp>
        <p:nvSpPr>
          <p:cNvPr id="19" name="Text 17"/>
          <p:cNvSpPr txBox="1"/>
          <p:nvPr/>
        </p:nvSpPr>
        <p:spPr>
          <a:xfrm>
            <a:off x="5257800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mínimo viable</a:t>
            </a:r>
            <a:endParaRPr lang="en-US" sz="1500"/>
          </a:p>
        </p:txBody>
      </p:sp>
      <p:sp>
        <p:nvSpPr>
          <p:cNvPr id="20" name="Text 18"/>
          <p:cNvSpPr txBox="1"/>
          <p:nvPr/>
        </p:nvSpPr>
        <p:spPr>
          <a:xfrm>
            <a:off x="5257800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más pequeña que entrega el valor prometido a un usuario real, no una demostración.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 rot="5400000">
            <a:off x="7159752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3488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333488" y="1737360"/>
            <a:ext cx="2084832" cy="65836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33488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/>
          </a:p>
        </p:txBody>
      </p:sp>
      <p:sp>
        <p:nvSpPr>
          <p:cNvPr id="25" name="Text 23"/>
          <p:cNvSpPr txBox="1"/>
          <p:nvPr/>
        </p:nvSpPr>
        <p:spPr>
          <a:xfrm>
            <a:off x="7534656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precio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7534656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cuánto pagarían y, mejor aún, pide una carta de intención o un anticipo.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 rot="5400000">
            <a:off x="9436608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28" name="Shape 26"/>
          <p:cNvSpPr/>
          <p:nvPr/>
        </p:nvSpPr>
        <p:spPr>
          <a:xfrm>
            <a:off x="9610344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0344" y="1737360"/>
            <a:ext cx="2084832" cy="658368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10344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/>
          </a:p>
        </p:txBody>
      </p:sp>
      <p:sp>
        <p:nvSpPr>
          <p:cNvPr id="31" name="Text 29"/>
          <p:cNvSpPr txBox="1"/>
          <p:nvPr/>
        </p:nvSpPr>
        <p:spPr>
          <a:xfrm>
            <a:off x="9811512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decisión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9811512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Activación, retención a 30 días y conversión. Define de antemano qué resultado te haría cambiar el modelo.</a:t>
            </a:r>
            <a:endParaRPr lang="en-US" sz="1150"/>
          </a:p>
        </p:txBody>
      </p:sp>
      <p:sp>
        <p:nvSpPr>
          <p:cNvPr id="33" name="Text 31"/>
          <p:cNvSpPr txBox="1"/>
          <p:nvPr/>
        </p:nvSpPr>
        <p:spPr>
          <a:xfrm>
            <a:off x="502920" y="58978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un Canvas con cero validación es presentar una opinión. Una sola entrevista bien documentada ya cambia la conversación con el jurado.</a:t>
            </a:r>
            <a:endParaRPr lang="en-US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coherencia del modelo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cruces que debes poder responder con «sí» antes de entregar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6276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de clientes tiene al menos un canal que lo alcanza.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02920" y="2203704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22576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037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tiene una propuesta de valor escrita en sus términos, no en los tuyos.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898648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7797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propuesta de valor tiene asociada al menos una fuente de ingresos.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474720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33558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clave se sostiene con algún recurso clave o algún socio declarado.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050792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9319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costo relevante se origina en un recurso, una actividad o un socio de tu lienzo.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502920" y="4507992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626864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5079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se justifica con el valor entregado, no con el costo de desarrollo.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5202936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50840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relación con el cliente es compatible con el precio y con el costo de atenderlo.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502920" y="5660136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5779008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56601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cuál es el supuesto más riesgoso del modelo y cómo piensas ponerlo a prueba.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502920" y="6291072"/>
            <a:ext cx="11183112" cy="18288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para exponer tu propuesta en 10 minutos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sugerida para la presentación del equipo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0A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1:30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segmento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5669280" y="16002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sufre qué, con un dato o una cita de tus entrevistas.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4A3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258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3:00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2377440" y="22585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5669280" y="22585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para ese cliente, en resultados medibles.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02920" y="2916936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9169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4:30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2377440" y="29169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o prototipo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5669280" y="29169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corto por el flujo principal, no por todos los módulos.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2E8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5753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– 6:00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2377440" y="3575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y costos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5669280" y="357530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cobras, cuánto cuesta operar y el punto de equilibrio.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02920" y="4233672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4A47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2336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7:30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>
          <a:xfrm>
            <a:off x="2377440" y="42336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entrega y se sostiene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5669280" y="42336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Canales, relación con el cliente, recursos, actividades y socios.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02920" y="48920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5B64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4892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– 8:30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2377440" y="4892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riesgos</a:t>
            </a:r>
            <a:endParaRPr lang="en-US" sz="1400"/>
          </a:p>
        </p:txBody>
      </p:sp>
      <p:sp>
        <p:nvSpPr>
          <p:cNvPr id="27" name="Text 25"/>
          <p:cNvSpPr txBox="1"/>
          <p:nvPr/>
        </p:nvSpPr>
        <p:spPr>
          <a:xfrm>
            <a:off x="5669280" y="48920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ya comprobaste, qué sigue siendo hipótesis y cuál es tu mayor riesgo.</a:t>
            </a:r>
            <a:endParaRPr lang="en-US" sz="1250"/>
          </a:p>
        </p:txBody>
      </p:sp>
      <p:sp>
        <p:nvSpPr>
          <p:cNvPr id="28" name="Shape 26"/>
          <p:cNvSpPr/>
          <p:nvPr/>
        </p:nvSpPr>
        <p:spPr>
          <a:xfrm>
            <a:off x="502920" y="555040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F1B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55504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10:00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2377440" y="5550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petición</a:t>
            </a:r>
            <a:endParaRPr lang="en-US" sz="1400"/>
          </a:p>
        </p:txBody>
      </p:sp>
      <p:sp>
        <p:nvSpPr>
          <p:cNvPr id="31" name="Text 29"/>
          <p:cNvSpPr txBox="1"/>
          <p:nvPr/>
        </p:nvSpPr>
        <p:spPr>
          <a:xfrm>
            <a:off x="5669280" y="555040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necesitas para el siguiente paso y preguntas del jurado.</a:t>
            </a:r>
            <a:endParaRPr lang="en-US" sz="1250"/>
          </a:p>
        </p:txBody>
      </p:sp>
      <p:sp>
        <p:nvSpPr>
          <p:cNvPr id="32" name="Text 30"/>
          <p:cNvSpPr txBox="1"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el lienzo completo impreso o en una diapositiva de respaldo: el jurado casi siempre pregunta por costos y por el supuesto más riesgoso.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017520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ESTA SECCIÓN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b="1">
                <a:solidFill>
                  <a:srgbClr val="6E6A9A"/>
                </a:solidFill>
                <a:latin typeface="Cambria"/>
                <a:ea typeface="Cambria"/>
              </a:rPr>
              <a:t>Nombre del </a:t>
            </a:r>
            <a:r>
              <a:rPr lang="en-US" sz="4000" b="1" err="1">
                <a:solidFill>
                  <a:srgbClr val="6E6A9A"/>
                </a:solidFill>
                <a:latin typeface="Cambria"/>
                <a:ea typeface="Cambria"/>
              </a:rPr>
              <a:t>proyecto</a:t>
            </a:r>
            <a:r>
              <a:rPr lang="en-US" sz="4000" b="1">
                <a:solidFill>
                  <a:srgbClr val="6E6A9A"/>
                </a:solidFill>
                <a:latin typeface="Cambria"/>
                <a:ea typeface="Cambria"/>
              </a:rPr>
              <a:t> 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30352" y="1965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Escribe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en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una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frase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 el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concepto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 de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tu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FFFFFF"/>
                </a:solidFill>
                <a:ea typeface="Calibri"/>
                <a:cs typeface="Calibri"/>
              </a:rPr>
              <a:t>proyecto</a:t>
            </a:r>
            <a:r>
              <a:rPr lang="en-US" sz="2600" b="1">
                <a:solidFill>
                  <a:srgbClr val="FFFFFF"/>
                </a:solidFill>
                <a:ea typeface="Calibri"/>
                <a:cs typeface="Calibri"/>
              </a:rPr>
              <a:t> 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708429" y="3571471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Nombres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 de </a:t>
            </a:r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los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integrantes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 </a:t>
            </a:r>
          </a:p>
        </p:txBody>
      </p:sp>
      <p:sp>
        <p:nvSpPr>
          <p:cNvPr id="9" name="Shape 7"/>
          <p:cNvSpPr/>
          <p:nvPr/>
        </p:nvSpPr>
        <p:spPr>
          <a:xfrm>
            <a:off x="425196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Y GRUPO</a:t>
            </a:r>
            <a:endParaRPr lang="en-US" sz="1000"/>
          </a:p>
        </p:txBody>
      </p:sp>
      <p:sp>
        <p:nvSpPr>
          <p:cNvPr id="11" name="Text 9"/>
          <p:cNvSpPr txBox="1"/>
          <p:nvPr/>
        </p:nvSpPr>
        <p:spPr>
          <a:xfrm>
            <a:off x="448056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8A86B4"/>
                </a:solidFill>
                <a:latin typeface="Calibri"/>
                <a:ea typeface="Calibri"/>
                <a:cs typeface="Calibri"/>
              </a:rPr>
              <a:t>Ingeniería de Software · Grupo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OBJETIVO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</a:t>
            </a:r>
            <a:endParaRPr lang="en-US" sz="100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Cómo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cobraras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los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Calibri"/>
                <a:cs typeface="Calibri"/>
              </a:rPr>
              <a:t>servicios</a:t>
            </a:r>
            <a:r>
              <a:rPr lang="en-US" sz="1250" i="1">
                <a:solidFill>
                  <a:srgbClr val="8A86B4"/>
                </a:solidFill>
                <a:ea typeface="Calibri"/>
                <a:cs typeface="Calibri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425196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ACTUAL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448056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i="1">
                <a:solidFill>
                  <a:srgbClr val="8A86B4"/>
                </a:solidFill>
                <a:ea typeface="+mn-lt"/>
                <a:cs typeface="+mn-lt"/>
              </a:rPr>
              <a:t>Estado actual </a:t>
            </a:r>
            <a:r>
              <a:rPr lang="en-US" sz="1250" i="1" err="1">
                <a:solidFill>
                  <a:srgbClr val="8A86B4"/>
                </a:solidFill>
                <a:ea typeface="+mn-lt"/>
                <a:cs typeface="+mn-lt"/>
              </a:rPr>
              <a:t>en</a:t>
            </a:r>
            <a:r>
              <a:rPr lang="en-US" sz="1250" i="1">
                <a:solidFill>
                  <a:srgbClr val="8A86B4"/>
                </a:solidFill>
                <a:ea typeface="+mn-lt"/>
                <a:cs typeface="+mn-lt"/>
              </a:rPr>
              <a:t> el </a:t>
            </a:r>
            <a:r>
              <a:rPr lang="en-US" sz="1250" i="1" err="1">
                <a:solidFill>
                  <a:srgbClr val="8A86B4"/>
                </a:solidFill>
                <a:ea typeface="+mn-lt"/>
                <a:cs typeface="+mn-lt"/>
              </a:rPr>
              <a:t>que</a:t>
            </a:r>
            <a:r>
              <a:rPr lang="en-US" sz="1250" i="1">
                <a:solidFill>
                  <a:srgbClr val="8A86B4"/>
                </a:solidFill>
                <a:ea typeface="+mn-lt"/>
                <a:cs typeface="+mn-lt"/>
              </a:rPr>
              <a:t> se </a:t>
            </a:r>
            <a:r>
              <a:rPr lang="en-US" sz="1250" i="1" err="1">
                <a:solidFill>
                  <a:srgbClr val="8A86B4"/>
                </a:solidFill>
                <a:ea typeface="+mn-lt"/>
                <a:cs typeface="+mn-lt"/>
              </a:rPr>
              <a:t>encuentra</a:t>
            </a:r>
            <a:r>
              <a:rPr lang="en-US" sz="1250" i="1">
                <a:solidFill>
                  <a:srgbClr val="8A86B4"/>
                </a:solidFill>
                <a:ea typeface="+mn-lt"/>
                <a:cs typeface="+mn-lt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+mn-lt"/>
                <a:cs typeface="+mn-lt"/>
              </a:rPr>
              <a:t>tu</a:t>
            </a:r>
            <a:r>
              <a:rPr lang="en-US" sz="1250" i="1">
                <a:solidFill>
                  <a:srgbClr val="8A86B4"/>
                </a:solidFill>
                <a:ea typeface="+mn-lt"/>
                <a:cs typeface="+mn-lt"/>
              </a:rPr>
              <a:t> </a:t>
            </a:r>
            <a:r>
              <a:rPr lang="en-US" sz="1250" i="1" err="1">
                <a:solidFill>
                  <a:srgbClr val="8A86B4"/>
                </a:solidFill>
                <a:ea typeface="+mn-lt"/>
                <a:cs typeface="+mn-lt"/>
              </a:rPr>
              <a:t>producto</a:t>
            </a:r>
          </a:p>
        </p:txBody>
      </p:sp>
      <p:sp>
        <p:nvSpPr>
          <p:cNvPr id="21" name="Shape 19"/>
          <p:cNvSpPr/>
          <p:nvPr/>
        </p:nvSpPr>
        <p:spPr>
          <a:xfrm>
            <a:off x="800100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ENTREGA</a:t>
            </a:r>
            <a:endParaRPr lang="en-US" sz="1000"/>
          </a:p>
        </p:txBody>
      </p:sp>
      <p:sp>
        <p:nvSpPr>
          <p:cNvPr id="23" name="Text 21"/>
          <p:cNvSpPr txBox="1"/>
          <p:nvPr/>
        </p:nvSpPr>
        <p:spPr>
          <a:xfrm>
            <a:off x="822960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i="1">
                <a:solidFill>
                  <a:srgbClr val="8A86B4"/>
                </a:solidFill>
                <a:latin typeface="Calibri"/>
                <a:ea typeface="Calibri"/>
                <a:cs typeface="Calibri"/>
              </a:rPr>
              <a:t>Día / mes / año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84048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32520" y="384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ESTE LIENZO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41148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Lienzo del modelo de negocio de nuestro proyecto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84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4300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804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/>
          </a:p>
        </p:txBody>
      </p:sp>
      <p:sp>
        <p:nvSpPr>
          <p:cNvPr id="9" name="Text 7"/>
          <p:cNvSpPr txBox="1"/>
          <p:nvPr/>
        </p:nvSpPr>
        <p:spPr>
          <a:xfrm>
            <a:off x="493776" y="1508760"/>
            <a:ext cx="20116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670048" y="1051560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14300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1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3090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779776" y="1508760"/>
            <a:ext cx="201168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2670048" y="2930652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302209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61488" y="3022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3090672" y="30129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2779776" y="3387852"/>
            <a:ext cx="201168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956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114300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47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23" name="Text 21"/>
          <p:cNvSpPr txBox="1"/>
          <p:nvPr/>
        </p:nvSpPr>
        <p:spPr>
          <a:xfrm>
            <a:off x="5376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5065776" y="1508760"/>
            <a:ext cx="20116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7242048" y="1051560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114300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33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8" name="Text 26"/>
          <p:cNvSpPr txBox="1"/>
          <p:nvPr/>
        </p:nvSpPr>
        <p:spPr>
          <a:xfrm>
            <a:off x="7662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7351776" y="1508760"/>
            <a:ext cx="201168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7242048" y="2930652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33488" y="302209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33488" y="3022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33" name="Text 31"/>
          <p:cNvSpPr txBox="1"/>
          <p:nvPr/>
        </p:nvSpPr>
        <p:spPr>
          <a:xfrm>
            <a:off x="7662672" y="30129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/>
          </a:p>
        </p:txBody>
      </p:sp>
      <p:sp>
        <p:nvSpPr>
          <p:cNvPr id="34" name="Text 32"/>
          <p:cNvSpPr txBox="1"/>
          <p:nvPr/>
        </p:nvSpPr>
        <p:spPr>
          <a:xfrm>
            <a:off x="7351776" y="3387852"/>
            <a:ext cx="201168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9528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114300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19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38" name="Text 36"/>
          <p:cNvSpPr txBox="1"/>
          <p:nvPr/>
        </p:nvSpPr>
        <p:spPr>
          <a:xfrm>
            <a:off x="9948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/>
          </a:p>
        </p:txBody>
      </p:sp>
      <p:sp>
        <p:nvSpPr>
          <p:cNvPr id="39" name="Text 37"/>
          <p:cNvSpPr txBox="1"/>
          <p:nvPr/>
        </p:nvSpPr>
        <p:spPr>
          <a:xfrm>
            <a:off x="9637776" y="1508760"/>
            <a:ext cx="20116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84048" y="4828032"/>
            <a:ext cx="451713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" y="491947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43" name="Text 41"/>
          <p:cNvSpPr txBox="1"/>
          <p:nvPr/>
        </p:nvSpPr>
        <p:spPr>
          <a:xfrm>
            <a:off x="804672" y="491032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/>
          </a:p>
        </p:txBody>
      </p:sp>
      <p:sp>
        <p:nvSpPr>
          <p:cNvPr id="44" name="Text 42"/>
          <p:cNvSpPr txBox="1"/>
          <p:nvPr/>
        </p:nvSpPr>
        <p:spPr>
          <a:xfrm>
            <a:off x="493776" y="5285232"/>
            <a:ext cx="4297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4956048" y="4828032"/>
            <a:ext cx="680313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47488" y="491947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4748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8" name="Text 46"/>
          <p:cNvSpPr txBox="1"/>
          <p:nvPr/>
        </p:nvSpPr>
        <p:spPr>
          <a:xfrm>
            <a:off x="5376672" y="491032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/>
          </a:p>
        </p:txBody>
      </p:sp>
      <p:sp>
        <p:nvSpPr>
          <p:cNvPr id="49" name="Text 47"/>
          <p:cNvSpPr txBox="1"/>
          <p:nvPr/>
        </p:nvSpPr>
        <p:spPr>
          <a:xfrm>
            <a:off x="5065776" y="528523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aquí…</a:t>
            </a:r>
            <a:endParaRPr lang="en-US" sz="1050"/>
          </a:p>
        </p:txBody>
      </p:sp>
      <p:sp>
        <p:nvSpPr>
          <p:cNvPr id="50" name="Text 48"/>
          <p:cNvSpPr txBox="1"/>
          <p:nvPr/>
        </p:nvSpPr>
        <p:spPr>
          <a:xfrm>
            <a:off x="384048" y="61447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Sugerencia: llena primero la hoja «Cuestionario» del Excel y resume aquí, en tres o cuatro viñetas por bloque, lo esencial de cada respuesta.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32520" y="4114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ESTAS FICHAS</a:t>
            </a:r>
            <a:endParaRPr lang="en-US" sz="1000"/>
          </a:p>
        </p:txBody>
      </p:sp>
      <p:sp>
        <p:nvSpPr>
          <p:cNvPr id="4" name="Text 2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Detalle, validación y entrega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45336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 en una frase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731520" y="1856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«Ayudamos a [segmento] a [resultado medible] mediante [solución], a diferencia de [alternativa actual].»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153912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45336"/>
            <a:ext cx="146304" cy="146304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ingresos y precio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6382512" y="1856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elegido, unidad de cobro, precio y su justificación. Ingreso mensual estimado.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099816"/>
            <a:ext cx="146304" cy="146304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costos principales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731520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más grandes del modelo y cuáles crecen con cada cliente nuevo.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153912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099816"/>
            <a:ext cx="146304" cy="1463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11112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validamos y con quién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6382512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entrevistas, a quién, qué aprendimos y qué cambió en el lienzo por eso.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4654296"/>
            <a:ext cx="146304" cy="146304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más riesgoso</a:t>
            </a:r>
            <a:endParaRPr lang="en-US" sz="1400"/>
          </a:p>
        </p:txBody>
      </p:sp>
      <p:sp>
        <p:nvSpPr>
          <p:cNvPr id="24" name="Text 22"/>
          <p:cNvSpPr txBox="1"/>
          <p:nvPr/>
        </p:nvSpPr>
        <p:spPr>
          <a:xfrm>
            <a:off x="731520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supuesto que, de ser falso, derrumba el modelo. Cómo piensan ponerlo a prueba y cuándo.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153912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654296"/>
            <a:ext cx="146304" cy="146304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11112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 y petición</a:t>
            </a:r>
            <a:endParaRPr lang="en-US" sz="1400"/>
          </a:p>
        </p:txBody>
      </p:sp>
      <p:sp>
        <p:nvSpPr>
          <p:cNvPr id="28" name="Text 26"/>
          <p:cNvSpPr txBox="1"/>
          <p:nvPr/>
        </p:nvSpPr>
        <p:spPr>
          <a:xfrm>
            <a:off x="6382512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harán en las próximas cuatro semanas y qué necesitan para lograrlo.</a:t>
            </a:r>
            <a:endParaRPr lang="en-US" sz="1200"/>
          </a:p>
        </p:txBody>
      </p:sp>
      <p:sp>
        <p:nvSpPr>
          <p:cNvPr id="29" name="Text 27"/>
          <p:cNvSpPr txBox="1"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este archivo con las diapositivas 23 a 25 completas, más el archivo de Excel con el cuestionario contestado y el checklist en verde.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1061D368890844BCDF55F45CE664BF" ma:contentTypeVersion="3" ma:contentTypeDescription="Create a new document." ma:contentTypeScope="" ma:versionID="da0f1c06ca0682d1d7d7c3586bec5351">
  <xsd:schema xmlns:xsd="http://www.w3.org/2001/XMLSchema" xmlns:xs="http://www.w3.org/2001/XMLSchema" xmlns:p="http://schemas.microsoft.com/office/2006/metadata/properties" xmlns:ns2="6f69b302-78da-4fa3-b244-2e18e3e30bcb" targetNamespace="http://schemas.microsoft.com/office/2006/metadata/properties" ma:root="true" ma:fieldsID="630738f4a7a7a0e77ec122f19befdc36" ns2:_="">
    <xsd:import namespace="6f69b302-78da-4fa3-b244-2e18e3e30b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9b302-78da-4fa3-b244-2e18e3e30b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1CFCC4-BA54-4FB0-A25A-7D810AEDDD3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937691-7F07-4C10-8DDE-10C6C34492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0268C8-DCF9-4B47-971D-675AC3E681A4}">
  <ds:schemaRefs>
    <ds:schemaRef ds:uri="6f69b302-78da-4fa3-b244-2e18e3e30b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25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TecNM / Instituto Tecnológico de Morelia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para Proyectos de Software</dc:title>
  <dc:subject>PptxGenJS Presentation</dc:subject>
  <dc:creator>Dr. Claudio Ernesto Florián Arenas</dc:creator>
  <cp:revision>1</cp:revision>
  <dcterms:created xsi:type="dcterms:W3CDTF">2026-09-14T15:51:31Z</dcterms:created>
  <dcterms:modified xsi:type="dcterms:W3CDTF">2026-09-17T14:50:21Z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0x010100561061D368890844BCDF55F45CE664BF</vt:lpwstr>
  </property>
</Properties>
</file>